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5.xml" ContentType="application/inkml+xml"/>
  <Override PartName="/ppt/notesSlides/notesSlide9.xml" ContentType="application/vnd.openxmlformats-officedocument.presentationml.notesSlide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6" r:id="rId2"/>
    <p:sldId id="4495" r:id="rId3"/>
    <p:sldId id="4496" r:id="rId4"/>
    <p:sldId id="4516" r:id="rId5"/>
    <p:sldId id="4503" r:id="rId6"/>
    <p:sldId id="4501" r:id="rId7"/>
    <p:sldId id="4504" r:id="rId8"/>
    <p:sldId id="4514" r:id="rId9"/>
    <p:sldId id="4506" r:id="rId10"/>
    <p:sldId id="262" r:id="rId11"/>
    <p:sldId id="4507" r:id="rId12"/>
    <p:sldId id="263" r:id="rId13"/>
    <p:sldId id="256" r:id="rId14"/>
    <p:sldId id="265" r:id="rId15"/>
    <p:sldId id="4518" r:id="rId16"/>
    <p:sldId id="4517" r:id="rId17"/>
    <p:sldId id="4520" r:id="rId18"/>
    <p:sldId id="4519" r:id="rId19"/>
    <p:sldId id="4493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04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06" autoAdjust="0"/>
    <p:restoredTop sz="94610" autoAdjust="0"/>
  </p:normalViewPr>
  <p:slideViewPr>
    <p:cSldViewPr>
      <p:cViewPr varScale="1">
        <p:scale>
          <a:sx n="87" d="100"/>
          <a:sy n="87" d="100"/>
        </p:scale>
        <p:origin x="56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12:12:08.776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1 0 16383,'8'25'0,"-1"-5"0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53.442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1 0 16383,'8'25'0,"-1"-5"0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53.442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1 0 16383,'8'25'0,"-1"-5"0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5:40:53.442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1 0 16383,'8'25'0,"-1"-5"0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12:12:08.776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1 0 16383,'8'25'0,"-1"-5"0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12:12:08.776"/>
    </inkml:context>
    <inkml:brush xml:id="br0">
      <inkml:brushProperty name="width" value="0.2" units="cm"/>
      <inkml:brushProperty name="height" value="1.2" units="cm"/>
      <inkml:brushProperty name="color" value="#004F8B"/>
      <inkml:brushProperty name="inkEffects" value="pencil"/>
    </inkml:brush>
  </inkml:definitions>
  <inkml:trace contextRef="#ctx0" brushRef="#br0">1 0 16383,'8'25'0,"-1"-5"0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29106F-0B85-7D40-81DF-441DB4C14669}" type="datetimeFigureOut">
              <a:rPr lang="en-CL" smtClean="0"/>
              <a:t>08-05-26</a:t>
            </a:fld>
            <a:endParaRPr lang="en-C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E62E92-0C00-3F46-9DC3-213C9D3A99B5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1126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29CB4-44A9-AC96-1560-D74D017AF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51CB44-103A-4623-FF1E-FF6528C75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E52A9-C570-92EF-87F5-560B085C1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C4FA1-475D-4104-A001-16C65E234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DAFDD-A482-F14A-B6B7-6A24B79ED3FA}" type="slidenum">
              <a:rPr lang="en-CL" smtClean="0"/>
              <a:t>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9771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5F647-ED9E-C63E-CB09-79EFC2564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29D614-5B74-760D-B22B-3FED4753CC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B95437-F8AD-23E8-8C92-DCF60FE5D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816FF-AD9D-814E-6791-888B292C3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DAFDD-A482-F14A-B6B7-6A24B79ED3FA}" type="slidenum">
              <a:rPr lang="en-CL" smtClean="0"/>
              <a:t>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74738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25818-4C4C-1D36-BA19-D49C3ABE4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142D8-9C15-4E4E-29B9-37C273C4A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EBB161-FDFD-438A-066E-0EC6972AF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E6427-6499-0E8E-CC08-F2A2A94AF4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DAFDD-A482-F14A-B6B7-6A24B79ED3FA}" type="slidenum">
              <a:rPr lang="en-CL" smtClean="0"/>
              <a:t>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1570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77C67-1299-C8A1-1872-7F98A055F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9535BD-2D8B-2C86-3CBA-F29AF4EF7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46093-8827-96A5-6CDE-49AE4E511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72BC0-1D4A-1508-32C4-E234BB21B0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DAFDD-A482-F14A-B6B7-6A24B79ED3FA}" type="slidenum">
              <a:rPr lang="en-CL" smtClean="0"/>
              <a:t>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41051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7E714-0975-3767-C092-9FD46427C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11C90D-0C92-871F-76F6-528888CFE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F4D26A-B6F4-00C1-A3B9-1EF13E04B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53A5A-8664-921C-013E-1AD9735AC5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DAFDD-A482-F14A-B6B7-6A24B79ED3FA}" type="slidenum">
              <a:rPr lang="en-CL" smtClean="0"/>
              <a:t>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33897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66F33-B87B-00B5-8808-BD421DCA2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50B3CE-8E92-C52F-DDE7-0D5BB4314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0BDC4A-7539-3177-EA6A-24E8DB748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624AC-FCAA-3C57-9DC7-78F989A0E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DAFDD-A482-F14A-B6B7-6A24B79ED3FA}" type="slidenum">
              <a:rPr lang="en-CL" smtClean="0"/>
              <a:t>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56120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2FD08-6655-7BD5-99D8-14CB36AF4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4A794-A004-12A1-284B-5DFF43F13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723AA-5E16-0A1D-E7EF-F5D91522A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50E78-80A7-BF48-3C1A-99BD169623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DAFDD-A482-F14A-B6B7-6A24B79ED3FA}" type="slidenum">
              <a:rPr lang="en-CL" smtClean="0"/>
              <a:t>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622749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D31F3-60DF-22FD-D5F7-4F2A3CBA5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298DC3-AE19-B983-91FA-42B5F5D25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ABB73-62B9-CE68-17AF-A64B2B674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3F882-D4D9-6784-53A8-B0EC026E05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DAFDD-A482-F14A-B6B7-6A24B79ED3FA}" type="slidenum">
              <a:rPr lang="en-CL" smtClean="0"/>
              <a:t>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037842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178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png"/><Relationship Id="rId7" Type="http://schemas.microsoft.com/office/2007/relationships/hdphoto" Target="../media/hdphoto1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08E2EEC-13E2-B1B3-B047-C04AC48B50E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47818" y="1"/>
            <a:ext cx="5587375" cy="79002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04AEAD9-B436-FD9D-FABF-07D91DB7CDF5}"/>
                  </a:ext>
                </a:extLst>
              </p14:cNvPr>
              <p14:cNvContentPartPr/>
              <p14:nvPr/>
            </p14:nvContentPartPr>
            <p14:xfrm>
              <a:off x="2739556" y="472009"/>
              <a:ext cx="5760" cy="163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04AEAD9-B436-FD9D-FABF-07D91DB7CD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3556" y="259139"/>
                <a:ext cx="77400" cy="441704"/>
              </a:xfrm>
              <a:prstGeom prst="rect">
                <a:avLst/>
              </a:prstGeom>
            </p:spPr>
          </p:pic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62C7C0A9-6324-7D4A-9401-92BA2E5896B9}"/>
              </a:ext>
            </a:extLst>
          </p:cNvPr>
          <p:cNvSpPr txBox="1"/>
          <p:nvPr/>
        </p:nvSpPr>
        <p:spPr>
          <a:xfrm>
            <a:off x="1453636" y="1366558"/>
            <a:ext cx="3235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P</a:t>
            </a:r>
            <a:r>
              <a:rPr lang="en-US" sz="1400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Hi</a:t>
            </a:r>
            <a:r>
              <a:rPr lang="en-CL" sz="1400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gital eXperience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6032A39-97A8-544C-7112-E96CFB814192}"/>
              </a:ext>
            </a:extLst>
          </p:cNvPr>
          <p:cNvCxnSpPr/>
          <p:nvPr/>
        </p:nvCxnSpPr>
        <p:spPr>
          <a:xfrm>
            <a:off x="1" y="8481961"/>
            <a:ext cx="13555407" cy="0"/>
          </a:xfrm>
          <a:prstGeom prst="line">
            <a:avLst/>
          </a:prstGeom>
          <a:ln w="6350"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BD190B3-5F70-59EF-489B-135DD3105244}"/>
              </a:ext>
            </a:extLst>
          </p:cNvPr>
          <p:cNvSpPr txBox="1"/>
          <p:nvPr/>
        </p:nvSpPr>
        <p:spPr>
          <a:xfrm>
            <a:off x="1453636" y="504783"/>
            <a:ext cx="63643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Light BETA" panose="020B0402030000000004" pitchFamily="34" charset="0"/>
                <a:ea typeface="Inter Light BETA" panose="020B0402030000000004" pitchFamily="34" charset="0"/>
              </a:rPr>
              <a:t>Sistemas </a:t>
            </a:r>
            <a:r>
              <a:rPr lang="en-US" sz="2400" b="1" dirty="0" err="1">
                <a:latin typeface="Inter Light BETA" panose="020B0402030000000004" pitchFamily="34" charset="0"/>
                <a:ea typeface="Inter Light BETA" panose="020B0402030000000004" pitchFamily="34" charset="0"/>
              </a:rPr>
              <a:t>que</a:t>
            </a:r>
            <a:r>
              <a:rPr lang="en-US" sz="2400" b="1" dirty="0">
                <a:latin typeface="Inter Light BETA" panose="020B0402030000000004" pitchFamily="34" charset="0"/>
                <a:ea typeface="Inter Light BETA" panose="020B0402030000000004" pitchFamily="34" charset="0"/>
              </a:rPr>
              <a:t> </a:t>
            </a:r>
            <a:r>
              <a:rPr lang="en-US" sz="2400" b="1" dirty="0" err="1">
                <a:latin typeface="Inter Light BETA" panose="020B0402030000000004" pitchFamily="34" charset="0"/>
                <a:ea typeface="Inter Light BETA" panose="020B0402030000000004" pitchFamily="34" charset="0"/>
              </a:rPr>
              <a:t>mejoran</a:t>
            </a:r>
            <a:r>
              <a:rPr lang="en-US" sz="2400" b="1" dirty="0">
                <a:latin typeface="Inter Light BETA" panose="020B0402030000000004" pitchFamily="34" charset="0"/>
                <a:ea typeface="Inter Light BETA" panose="020B0402030000000004" pitchFamily="34" charset="0"/>
              </a:rPr>
              <a:t> la </a:t>
            </a:r>
          </a:p>
          <a:p>
            <a:r>
              <a:rPr lang="en-US" sz="2400" b="1" dirty="0" err="1">
                <a:solidFill>
                  <a:srgbClr val="0A5FFF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ejecución</a:t>
            </a:r>
            <a:r>
              <a:rPr lang="en-US" sz="2400" b="1" dirty="0">
                <a:solidFill>
                  <a:srgbClr val="0A5FFF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 del </a:t>
            </a:r>
            <a:r>
              <a:rPr lang="en-US" sz="2400" b="1" dirty="0" err="1">
                <a:solidFill>
                  <a:srgbClr val="0A5FFF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negocio</a:t>
            </a:r>
            <a:r>
              <a:rPr lang="en-US" sz="2400" b="1" dirty="0">
                <a:solidFill>
                  <a:srgbClr val="0A5FFF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.</a:t>
            </a:r>
            <a:endParaRPr lang="en-CL" sz="2400" b="1" dirty="0">
              <a:solidFill>
                <a:srgbClr val="0A5FFF"/>
              </a:solidFill>
              <a:latin typeface="Inter Light BETA" panose="020B0402030000000004" pitchFamily="34" charset="0"/>
              <a:ea typeface="Inter Light BETA" panose="020B04020300000000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780DB4-2A3A-0515-3B89-1AA46BF6F298}"/>
              </a:ext>
            </a:extLst>
          </p:cNvPr>
          <p:cNvSpPr txBox="1"/>
          <p:nvPr/>
        </p:nvSpPr>
        <p:spPr>
          <a:xfrm>
            <a:off x="11126159" y="8692596"/>
            <a:ext cx="6364323" cy="31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Phigital</a:t>
            </a:r>
            <a:r>
              <a:rPr lang="en-CL" sz="1200" dirty="0"/>
              <a:t> </a:t>
            </a:r>
            <a:r>
              <a:rPr lang="en-CL" sz="2133" baseline="-25000" dirty="0">
                <a:solidFill>
                  <a:srgbClr val="1F0596"/>
                </a:solidFill>
              </a:rPr>
              <a:t>®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una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empresa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de Phoenix Service Chile –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Confidencial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- 2026</a:t>
            </a:r>
            <a:endParaRPr lang="en-CL" sz="1200" dirty="0">
              <a:solidFill>
                <a:srgbClr val="1F0596"/>
              </a:solidFill>
              <a:latin typeface="Inter Thin BETA" panose="020B0A02050000000004" pitchFamily="34" charset="0"/>
              <a:ea typeface="Inter Thin BETA" panose="020B0A020500000000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A7888B-017A-420F-8E4B-6A1D8A1F5AB2}"/>
              </a:ext>
            </a:extLst>
          </p:cNvPr>
          <p:cNvSpPr txBox="1"/>
          <p:nvPr/>
        </p:nvSpPr>
        <p:spPr>
          <a:xfrm>
            <a:off x="9611097" y="4037612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L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3CFC60-1973-7F1E-FB89-B82BA227FE15}"/>
              </a:ext>
            </a:extLst>
          </p:cNvPr>
          <p:cNvSpPr txBox="1"/>
          <p:nvPr/>
        </p:nvSpPr>
        <p:spPr>
          <a:xfrm>
            <a:off x="1891317" y="5863904"/>
            <a:ext cx="7670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“Modelo de </a:t>
            </a:r>
            <a:r>
              <a:rPr lang="en-US" sz="2400" dirty="0" err="1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Inteligencia</a:t>
            </a:r>
            <a:r>
              <a:rPr lang="en-US" sz="2400" dirty="0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 </a:t>
            </a:r>
            <a:r>
              <a:rPr lang="en-US" sz="2400" dirty="0" err="1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Comercial</a:t>
            </a:r>
            <a:r>
              <a:rPr lang="en-US" sz="2400" dirty="0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 </a:t>
            </a:r>
            <a:r>
              <a:rPr lang="en-US" sz="2400" dirty="0" err="1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Conversacional</a:t>
            </a:r>
            <a:r>
              <a:rPr lang="en-US" sz="2400" dirty="0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”</a:t>
            </a:r>
          </a:p>
          <a:p>
            <a:r>
              <a:rPr lang="en-US" sz="1600" dirty="0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IA para </a:t>
            </a:r>
            <a:r>
              <a:rPr lang="en-US" sz="1600" dirty="0" err="1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convertir</a:t>
            </a:r>
            <a:r>
              <a:rPr lang="en-US" sz="1600" dirty="0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 </a:t>
            </a:r>
            <a:r>
              <a:rPr lang="en-US" sz="1600" dirty="0" err="1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conversaciones</a:t>
            </a:r>
            <a:r>
              <a:rPr lang="en-US" sz="1600" dirty="0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 </a:t>
            </a:r>
            <a:r>
              <a:rPr lang="en-US" sz="1600" dirty="0" err="1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en</a:t>
            </a:r>
            <a:r>
              <a:rPr lang="en-US" sz="1600" dirty="0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 </a:t>
            </a:r>
            <a:r>
              <a:rPr lang="en-US" sz="1600" dirty="0" err="1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oportunidades</a:t>
            </a:r>
            <a:r>
              <a:rPr lang="en-US" sz="1600" dirty="0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 </a:t>
            </a:r>
            <a:r>
              <a:rPr lang="en-US" sz="1600" dirty="0" err="1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comerciales</a:t>
            </a:r>
            <a:r>
              <a:rPr lang="en-US" sz="1600" dirty="0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 </a:t>
            </a:r>
            <a:r>
              <a:rPr lang="en-US" sz="1600" dirty="0" err="1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calificadas</a:t>
            </a:r>
            <a:r>
              <a:rPr lang="en-US" sz="1600" dirty="0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.</a:t>
            </a:r>
          </a:p>
          <a:p>
            <a:endParaRPr lang="en-US" sz="1600" dirty="0">
              <a:solidFill>
                <a:srgbClr val="1F0596"/>
              </a:solidFill>
              <a:latin typeface="Inter Light BETA" panose="020B0402030000000004" pitchFamily="34" charset="0"/>
              <a:ea typeface="Inter Light BETA" panose="020B0402030000000004" pitchFamily="34" charset="0"/>
            </a:endParaRPr>
          </a:p>
          <a:p>
            <a:r>
              <a:rPr lang="en-US" sz="1400" dirty="0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Approach </a:t>
            </a:r>
            <a:r>
              <a:rPr lang="en-US" sz="1400" dirty="0" err="1">
                <a:solidFill>
                  <a:srgbClr val="1F0596"/>
                </a:solidFill>
                <a:latin typeface="Inter Light BETA" panose="020B0402030000000004" pitchFamily="34" charset="0"/>
                <a:ea typeface="Inter Light BETA" panose="020B0402030000000004" pitchFamily="34" charset="0"/>
              </a:rPr>
              <a:t>preliminar</a:t>
            </a:r>
            <a:endParaRPr lang="en-CL" sz="1400" dirty="0">
              <a:solidFill>
                <a:srgbClr val="1F0596"/>
              </a:solidFill>
              <a:latin typeface="Inter Light BETA" panose="020B0402030000000004" pitchFamily="34" charset="0"/>
              <a:ea typeface="Inter Light BETA" panose="020B04020300000000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A2E8B2-53CE-9844-C7AC-85ADEA50D51B}"/>
              </a:ext>
            </a:extLst>
          </p:cNvPr>
          <p:cNvSpPr txBox="1"/>
          <p:nvPr/>
        </p:nvSpPr>
        <p:spPr>
          <a:xfrm>
            <a:off x="1811129" y="7842833"/>
            <a:ext cx="63643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Mayo 2026</a:t>
            </a:r>
            <a:endParaRPr lang="en-CL" sz="1200" dirty="0">
              <a:solidFill>
                <a:srgbClr val="1F0596"/>
              </a:solidFill>
              <a:latin typeface="Inter Thin BETA" panose="020B0A02050000000004" pitchFamily="34" charset="0"/>
              <a:ea typeface="Inter Thin BETA" panose="020B0A020500000000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AB4E2AF-2C4D-08B2-3E03-34682689B4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91" y="0"/>
            <a:ext cx="1224039" cy="17307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EA2DE1A-D39F-0655-11FF-690FDED6A5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3" y="-136782"/>
            <a:ext cx="1473407" cy="208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69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B9866-E54A-B0CD-C16E-9E3EF12B1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533ED-006A-EEA7-6A8E-5F9220C97C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0292" y="213617"/>
            <a:ext cx="5276592" cy="1320800"/>
          </a:xfrm>
        </p:spPr>
        <p:txBody>
          <a:bodyPr anchor="b">
            <a:normAutofit/>
          </a:bodyPr>
          <a:lstStyle/>
          <a:p>
            <a:pPr algn="l"/>
            <a:r>
              <a:rPr lang="en-US" sz="5867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Disclaimer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BB935F-AB43-84EE-9177-B919E8027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316" y="4804233"/>
            <a:ext cx="11872569" cy="3264772"/>
          </a:xfrm>
        </p:spPr>
        <p:txBody>
          <a:bodyPr anchor="t">
            <a:normAutofit/>
          </a:bodyPr>
          <a:lstStyle/>
          <a:p>
            <a:pPr algn="just"/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Este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documento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y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toda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la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información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contenida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en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él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tienen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carácter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estrictamente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confidencial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y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han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sido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preparados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exclusivamente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para fines de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evaluación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técnico-comercial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por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parte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del receptor (UC). Su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contenido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no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podrá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ser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divulgado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reproducido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distribuido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compartido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ni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utilizado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total o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parcialmente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para fines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distintos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a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los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expresamente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asociados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al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análisis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de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esta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propuesta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sin la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autorización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previa,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expresa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y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por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escrito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de Phoenix Service y/o sus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filiales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o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unidades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relacionadas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según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corresponda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. </a:t>
            </a:r>
          </a:p>
          <a:p>
            <a:pPr algn="just"/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Asimismo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cualquier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antecedente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técnico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operativo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comercial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metodológico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financiero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o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estratégico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aquí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expuesto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deberá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ser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tratado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con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el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mismo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estándar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de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resguardo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y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privacidad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aplicable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a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información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sensible o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reservada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comprometiéndose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el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receptor a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adoptar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las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medidas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razonables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para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evitar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su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uso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indebido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,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difusión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no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autorizada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o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acceso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por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 </a:t>
            </a:r>
            <a:r>
              <a:rPr lang="en-US" sz="1600" dirty="0" err="1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terceros</a:t>
            </a:r>
            <a:r>
              <a:rPr lang="en-US" sz="1600" dirty="0">
                <a:solidFill>
                  <a:srgbClr val="1F0596">
                    <a:alpha val="51000"/>
                  </a:srgbClr>
                </a:solidFill>
                <a:latin typeface="Helvetica Light" panose="020B0403020202020204" pitchFamily="34" charset="0"/>
              </a:rPr>
              <a:t>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9A8B84-D376-72C2-94FA-7B33ADFD2A2A}"/>
              </a:ext>
            </a:extLst>
          </p:cNvPr>
          <p:cNvCxnSpPr>
            <a:cxnSpLocks/>
          </p:cNvCxnSpPr>
          <p:nvPr/>
        </p:nvCxnSpPr>
        <p:spPr>
          <a:xfrm>
            <a:off x="4993789" y="1674619"/>
            <a:ext cx="11262211" cy="0"/>
          </a:xfrm>
          <a:prstGeom prst="line">
            <a:avLst/>
          </a:prstGeom>
          <a:ln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CEDD1D-D6F2-8427-A20B-2E93607B1756}"/>
              </a:ext>
            </a:extLst>
          </p:cNvPr>
          <p:cNvCxnSpPr/>
          <p:nvPr/>
        </p:nvCxnSpPr>
        <p:spPr>
          <a:xfrm>
            <a:off x="1" y="8481961"/>
            <a:ext cx="13555407" cy="0"/>
          </a:xfrm>
          <a:prstGeom prst="line">
            <a:avLst/>
          </a:prstGeom>
          <a:ln w="6350"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B238114-A93F-0021-84CC-28103AA84FC3}"/>
              </a:ext>
            </a:extLst>
          </p:cNvPr>
          <p:cNvSpPr txBox="1"/>
          <p:nvPr/>
        </p:nvSpPr>
        <p:spPr>
          <a:xfrm>
            <a:off x="11126159" y="8692596"/>
            <a:ext cx="6364323" cy="31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Phigital</a:t>
            </a:r>
            <a:r>
              <a:rPr lang="en-CL" sz="1200" dirty="0"/>
              <a:t> </a:t>
            </a:r>
            <a:r>
              <a:rPr lang="en-CL" sz="2133" baseline="-25000" dirty="0">
                <a:solidFill>
                  <a:srgbClr val="1F0596"/>
                </a:solidFill>
              </a:rPr>
              <a:t>®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una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empresa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de Phoenix Service Chile –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Confidencial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- 2026</a:t>
            </a:r>
            <a:endParaRPr lang="en-CL" sz="1200" dirty="0">
              <a:solidFill>
                <a:srgbClr val="1F0596"/>
              </a:solidFill>
              <a:latin typeface="Inter Thin BETA" panose="020B0A02050000000004" pitchFamily="34" charset="0"/>
              <a:ea typeface="Inter Thin BETA" panose="020B0A020500000000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E7D72-2113-34C6-A675-94F296330F3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437">
            <a:off x="-2192205" y="1618168"/>
            <a:ext cx="5442644" cy="76987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F44454-EED1-34C8-7535-D398A66354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3" y="-136782"/>
            <a:ext cx="1473407" cy="208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227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40957-9CAC-0818-2185-A902490E6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5E91711F-EFFF-521C-99F8-8BBD7C10DE6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09896" y="-50711"/>
            <a:ext cx="6406480" cy="9144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41D320-DBA5-FDCF-6811-390CFDA32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0800" y="2229687"/>
            <a:ext cx="12041721" cy="5432233"/>
          </a:xfrm>
        </p:spPr>
        <p:txBody>
          <a:bodyPr anchor="b">
            <a:noAutofit/>
          </a:bodyPr>
          <a:lstStyle/>
          <a:p>
            <a:pPr algn="l"/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Cirumed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está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una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etapa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ordenamiento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y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crecimiento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su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línea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estética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con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el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objetivo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profesionalizar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la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gestión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comercial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B2B y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aumentar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la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captura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oportunidades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</a:t>
            </a:r>
            <a:b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b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Una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parte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relevante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las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ventas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proviene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clientes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pequeños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o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recurrentes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pero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el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proceso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sigue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siendo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altamente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manual y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concentrado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la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atención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por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WhatsApp.</a:t>
            </a:r>
            <a:b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b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El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flujo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comercial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exige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cuidado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por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el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tipo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industria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: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trato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cercano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y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técnico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validación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recetas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coordinación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pagos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datos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facturación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y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registro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posterior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HubSpot/SAP.</a:t>
            </a:r>
            <a:b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b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La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necesidad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central es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transformar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WhatsApp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un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proceso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comercial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más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rápido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inteligente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trazable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y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escalable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sin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perder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el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criterio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humano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ni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la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calidad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2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atención</a:t>
            </a:r>
            <a:r>
              <a:rPr lang="en-US" sz="2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</a:t>
            </a:r>
            <a:endParaRPr lang="en-US" sz="2300" b="1" dirty="0">
              <a:solidFill>
                <a:srgbClr val="1F0596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D620A65-E25B-A223-F22A-F6184F3172FD}"/>
                  </a:ext>
                </a:extLst>
              </p14:cNvPr>
              <p14:cNvContentPartPr/>
              <p14:nvPr/>
            </p14:nvContentPartPr>
            <p14:xfrm>
              <a:off x="2739556" y="472009"/>
              <a:ext cx="5760" cy="16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D620A65-E25B-A223-F22A-F6184F3172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03556" y="259139"/>
                <a:ext cx="77400" cy="441704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E9842B5F-5A95-BF8B-A7D2-B168C5FAE6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3" y="-136782"/>
            <a:ext cx="1473407" cy="208415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41A7C5-4D2F-9467-5B59-025044D2917D}"/>
              </a:ext>
            </a:extLst>
          </p:cNvPr>
          <p:cNvCxnSpPr/>
          <p:nvPr/>
        </p:nvCxnSpPr>
        <p:spPr>
          <a:xfrm>
            <a:off x="1" y="8481961"/>
            <a:ext cx="13555407" cy="0"/>
          </a:xfrm>
          <a:prstGeom prst="line">
            <a:avLst/>
          </a:prstGeom>
          <a:ln w="6350"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0215CE5-4A23-E78D-78D3-15F8DE71C1A1}"/>
              </a:ext>
            </a:extLst>
          </p:cNvPr>
          <p:cNvSpPr txBox="1"/>
          <p:nvPr/>
        </p:nvSpPr>
        <p:spPr>
          <a:xfrm>
            <a:off x="11126159" y="8692596"/>
            <a:ext cx="6364323" cy="31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Phigital</a:t>
            </a:r>
            <a:r>
              <a:rPr lang="en-CL" sz="1200" dirty="0"/>
              <a:t> </a:t>
            </a:r>
            <a:r>
              <a:rPr lang="en-CL" sz="2133" baseline="-25000" dirty="0">
                <a:solidFill>
                  <a:srgbClr val="1F0596"/>
                </a:solidFill>
              </a:rPr>
              <a:t>®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una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empresa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de Phoenix Service Chile –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Confidencial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- 2026</a:t>
            </a:r>
            <a:endParaRPr lang="en-CL" sz="1200" dirty="0">
              <a:solidFill>
                <a:srgbClr val="1F0596"/>
              </a:solidFill>
              <a:latin typeface="Inter Thin BETA" panose="020B0A02050000000004" pitchFamily="34" charset="0"/>
              <a:ea typeface="Inter Thin BETA" panose="020B0A020500000000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52F2EC8-DBEF-657B-4DBC-9FDCDB5FC8FF}"/>
              </a:ext>
            </a:extLst>
          </p:cNvPr>
          <p:cNvSpPr txBox="1">
            <a:spLocks/>
          </p:cNvSpPr>
          <p:nvPr/>
        </p:nvSpPr>
        <p:spPr>
          <a:xfrm>
            <a:off x="10450292" y="213617"/>
            <a:ext cx="5276592" cy="132080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867" dirty="0" err="1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Contexto</a:t>
            </a:r>
            <a:endParaRPr lang="en-US" sz="5867" dirty="0">
              <a:solidFill>
                <a:srgbClr val="1F0596"/>
              </a:solidFill>
              <a:latin typeface="Inter Medium" panose="020B0502030000000004" pitchFamily="34" charset="0"/>
              <a:ea typeface="Inter Medium" panose="020B05020300000000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0388B9D-932C-0908-71DE-AA85532D8435}"/>
              </a:ext>
            </a:extLst>
          </p:cNvPr>
          <p:cNvCxnSpPr>
            <a:cxnSpLocks/>
          </p:cNvCxnSpPr>
          <p:nvPr/>
        </p:nvCxnSpPr>
        <p:spPr>
          <a:xfrm>
            <a:off x="4993789" y="1674619"/>
            <a:ext cx="11262211" cy="0"/>
          </a:xfrm>
          <a:prstGeom prst="line">
            <a:avLst/>
          </a:prstGeom>
          <a:ln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951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128AC-35C7-9282-06C6-CB5DF81FE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2B1071B0-2199-B0C4-A19F-FCB98B9BE92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09896" y="-50711"/>
            <a:ext cx="6406480" cy="9144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0D4508C-CDD9-9657-AD0B-ABB5F3D98477}"/>
                  </a:ext>
                </a:extLst>
              </p14:cNvPr>
              <p14:cNvContentPartPr/>
              <p14:nvPr/>
            </p14:nvContentPartPr>
            <p14:xfrm>
              <a:off x="2739556" y="472009"/>
              <a:ext cx="5760" cy="16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0D4508C-CDD9-9657-AD0B-ABB5F3D984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03556" y="259139"/>
                <a:ext cx="77400" cy="441704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B58AF614-BA59-61D2-22B3-ABB958B8F9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3" y="-136782"/>
            <a:ext cx="1473407" cy="208415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3268E0C-B123-F7B8-2BEF-24FCEB7B7A1C}"/>
              </a:ext>
            </a:extLst>
          </p:cNvPr>
          <p:cNvCxnSpPr/>
          <p:nvPr/>
        </p:nvCxnSpPr>
        <p:spPr>
          <a:xfrm>
            <a:off x="1" y="8481961"/>
            <a:ext cx="13555407" cy="0"/>
          </a:xfrm>
          <a:prstGeom prst="line">
            <a:avLst/>
          </a:prstGeom>
          <a:ln w="6350"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3FD5903-F665-14B2-0439-43A752A119B0}"/>
              </a:ext>
            </a:extLst>
          </p:cNvPr>
          <p:cNvSpPr txBox="1"/>
          <p:nvPr/>
        </p:nvSpPr>
        <p:spPr>
          <a:xfrm>
            <a:off x="11126159" y="8692596"/>
            <a:ext cx="6364323" cy="31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Phigital</a:t>
            </a:r>
            <a:r>
              <a:rPr lang="en-CL" sz="1200" dirty="0"/>
              <a:t> </a:t>
            </a:r>
            <a:r>
              <a:rPr lang="en-CL" sz="2133" baseline="-25000" dirty="0">
                <a:solidFill>
                  <a:srgbClr val="1F0596"/>
                </a:solidFill>
              </a:rPr>
              <a:t>®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una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empresa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de Phoenix Service Chile –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Confidencial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- 2026</a:t>
            </a:r>
            <a:endParaRPr lang="en-CL" sz="1200" dirty="0">
              <a:solidFill>
                <a:srgbClr val="1F0596"/>
              </a:solidFill>
              <a:latin typeface="Inter Thin BETA" panose="020B0A02050000000004" pitchFamily="34" charset="0"/>
              <a:ea typeface="Inter Thin BETA" panose="020B0A020500000000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8260603-3198-3A9D-77CB-D3BCC6146EA5}"/>
              </a:ext>
            </a:extLst>
          </p:cNvPr>
          <p:cNvSpPr txBox="1">
            <a:spLocks/>
          </p:cNvSpPr>
          <p:nvPr/>
        </p:nvSpPr>
        <p:spPr>
          <a:xfrm>
            <a:off x="10450292" y="213617"/>
            <a:ext cx="5276592" cy="132080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867" dirty="0" err="1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Contexto</a:t>
            </a:r>
            <a:endParaRPr lang="en-US" sz="5867" dirty="0">
              <a:solidFill>
                <a:srgbClr val="1F0596"/>
              </a:solidFill>
              <a:latin typeface="Inter Medium" panose="020B0502030000000004" pitchFamily="34" charset="0"/>
              <a:ea typeface="Inter Medium" panose="020B05020300000000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AC4509-024D-5E8E-C604-7C1F64997EC5}"/>
              </a:ext>
            </a:extLst>
          </p:cNvPr>
          <p:cNvCxnSpPr>
            <a:cxnSpLocks/>
          </p:cNvCxnSpPr>
          <p:nvPr/>
        </p:nvCxnSpPr>
        <p:spPr>
          <a:xfrm>
            <a:off x="4993789" y="1674619"/>
            <a:ext cx="11262211" cy="0"/>
          </a:xfrm>
          <a:prstGeom prst="line">
            <a:avLst/>
          </a:prstGeom>
          <a:ln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BC5C96D8-376C-8334-6391-64FF917517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L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1F2F201-A067-8BE5-BA6A-625E8509CDD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3781"/>
          <a:stretch>
            <a:fillRect/>
          </a:stretch>
        </p:blipFill>
        <p:spPr>
          <a:xfrm>
            <a:off x="1671468" y="1735758"/>
            <a:ext cx="12898973" cy="692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560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3CF64-5734-4902-07B5-2C5668EA1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D6B91821-84AC-0847-6482-ADD993D52A9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09896" y="-50711"/>
            <a:ext cx="6406480" cy="9144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E8C7352-CA5C-31C8-F0C9-7DD49F6FB344}"/>
                  </a:ext>
                </a:extLst>
              </p14:cNvPr>
              <p14:cNvContentPartPr/>
              <p14:nvPr/>
            </p14:nvContentPartPr>
            <p14:xfrm>
              <a:off x="2739556" y="472009"/>
              <a:ext cx="5760" cy="16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E8C7352-CA5C-31C8-F0C9-7DD49F6FB34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03556" y="259139"/>
                <a:ext cx="77400" cy="441704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395E5F9D-F3E6-9062-C457-26E86F1A67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3" y="-136782"/>
            <a:ext cx="1473407" cy="208415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6FD617-81C0-9470-75C8-742E002727C2}"/>
              </a:ext>
            </a:extLst>
          </p:cNvPr>
          <p:cNvCxnSpPr/>
          <p:nvPr/>
        </p:nvCxnSpPr>
        <p:spPr>
          <a:xfrm>
            <a:off x="1" y="8481961"/>
            <a:ext cx="13555407" cy="0"/>
          </a:xfrm>
          <a:prstGeom prst="line">
            <a:avLst/>
          </a:prstGeom>
          <a:ln w="6350"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2C7459C-12DC-98DD-0699-FB916EAFF1FF}"/>
              </a:ext>
            </a:extLst>
          </p:cNvPr>
          <p:cNvSpPr txBox="1"/>
          <p:nvPr/>
        </p:nvSpPr>
        <p:spPr>
          <a:xfrm>
            <a:off x="11126159" y="8692596"/>
            <a:ext cx="6364323" cy="31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Phigital</a:t>
            </a:r>
            <a:r>
              <a:rPr lang="en-CL" sz="1200" dirty="0"/>
              <a:t> </a:t>
            </a:r>
            <a:r>
              <a:rPr lang="en-CL" sz="2133" baseline="-25000" dirty="0">
                <a:solidFill>
                  <a:srgbClr val="1F0596"/>
                </a:solidFill>
              </a:rPr>
              <a:t>®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una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empresa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de Phoenix Service Chile –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Confidencial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- 2026</a:t>
            </a:r>
            <a:endParaRPr lang="en-CL" sz="1200" dirty="0">
              <a:solidFill>
                <a:srgbClr val="1F0596"/>
              </a:solidFill>
              <a:latin typeface="Inter Thin BETA" panose="020B0A02050000000004" pitchFamily="34" charset="0"/>
              <a:ea typeface="Inter Thin BETA" panose="020B0A020500000000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41A891D-5276-987D-0847-9A9B08FB3695}"/>
              </a:ext>
            </a:extLst>
          </p:cNvPr>
          <p:cNvSpPr txBox="1">
            <a:spLocks/>
          </p:cNvSpPr>
          <p:nvPr/>
        </p:nvSpPr>
        <p:spPr>
          <a:xfrm>
            <a:off x="10450292" y="213617"/>
            <a:ext cx="5276592" cy="132080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867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Challenge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F6BC96-ADCD-9899-6CD2-3FF77049909F}"/>
              </a:ext>
            </a:extLst>
          </p:cNvPr>
          <p:cNvCxnSpPr>
            <a:cxnSpLocks/>
          </p:cNvCxnSpPr>
          <p:nvPr/>
        </p:nvCxnSpPr>
        <p:spPr>
          <a:xfrm>
            <a:off x="4993789" y="1674619"/>
            <a:ext cx="11262211" cy="0"/>
          </a:xfrm>
          <a:prstGeom prst="line">
            <a:avLst/>
          </a:prstGeom>
          <a:ln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3425FB0-D83F-4F05-D586-9D34999F3E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86" y="2031517"/>
            <a:ext cx="11125198" cy="625792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5FB0F9F-3F01-163E-20A7-A613BA347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21084" y="2478101"/>
            <a:ext cx="4269321" cy="5432233"/>
          </a:xfrm>
        </p:spPr>
        <p:txBody>
          <a:bodyPr anchor="b">
            <a:noAutofit/>
          </a:bodyPr>
          <a:lstStyle/>
          <a:p>
            <a:pPr algn="l"/>
            <a:r>
              <a:rPr lang="en-US" sz="1300" b="1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El </a:t>
            </a:r>
            <a:r>
              <a:rPr lang="en-US" sz="1300" b="1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desafío</a:t>
            </a:r>
            <a:r>
              <a:rPr lang="en-US" sz="1300" b="1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no es </a:t>
            </a:r>
            <a:r>
              <a:rPr lang="en-US" sz="1300" b="1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sumar</a:t>
            </a:r>
            <a:r>
              <a:rPr lang="en-US" sz="1300" b="1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b="1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más</a:t>
            </a:r>
            <a:r>
              <a:rPr lang="en-US" sz="1300" b="1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b="1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herramientas</a:t>
            </a:r>
            <a:r>
              <a:rPr lang="en-US" sz="1300" b="1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1300" b="1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sino</a:t>
            </a:r>
            <a:r>
              <a:rPr lang="en-US" sz="1300" b="1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b="1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convertir</a:t>
            </a:r>
            <a:r>
              <a:rPr lang="en-US" sz="1300" b="1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WhatsApp </a:t>
            </a:r>
            <a:r>
              <a:rPr lang="en-US" sz="1300" b="1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</a:t>
            </a:r>
            <a:r>
              <a:rPr lang="en-US" sz="1300" b="1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un canal </a:t>
            </a:r>
            <a:r>
              <a:rPr lang="en-US" sz="1300" b="1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comercial</a:t>
            </a:r>
            <a:r>
              <a:rPr lang="en-US" sz="1300" b="1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b="1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inteligente</a:t>
            </a:r>
            <a:r>
              <a:rPr lang="en-US" sz="1300" b="1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</a:t>
            </a: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Ya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existe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demanda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; la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oportunidad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está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capturarla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mejor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priorizarla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antes y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gestionarla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con mayor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trazabilidad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</a:t>
            </a: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La IA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debe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trabajar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como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copiloto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del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equipo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comercial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no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como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reemplazo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del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vendedor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</a:t>
            </a: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Cada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conversación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debe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transformarse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una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señal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negocio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: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intención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urgencia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oportunidad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o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riesgo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</a:t>
            </a: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HubSpot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debe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recibir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oportunidades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calificadas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no solo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contactos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cargados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manualmente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</a:t>
            </a: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El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conocimiento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comercial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es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el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punto de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partida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para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entrenar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una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solución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útil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cercana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y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alineada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al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negocio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</a:t>
            </a: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Automatizar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no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significa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deshumanizar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;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significa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liberar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tiempo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humano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para las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conversaciones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que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realmente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requieren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criterio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comercial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</a:t>
            </a: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b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El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modelo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debe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permitir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pasar de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una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operación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reactiva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por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WhatsApp a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una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gestión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comercial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asistida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medible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y </a:t>
            </a:r>
            <a:r>
              <a:rPr lang="en-US" sz="13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escalable</a:t>
            </a:r>
            <a:r>
              <a:rPr lang="en-US" sz="13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</a:t>
            </a:r>
            <a:endParaRPr lang="en-US" sz="1300" b="1" dirty="0">
              <a:solidFill>
                <a:srgbClr val="1F0596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921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A2B57-F739-E66F-4ED0-D30F119AB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A640574-2AD0-AAD8-5CBA-759E7BDFD65D}"/>
              </a:ext>
            </a:extLst>
          </p:cNvPr>
          <p:cNvCxnSpPr/>
          <p:nvPr/>
        </p:nvCxnSpPr>
        <p:spPr>
          <a:xfrm>
            <a:off x="1" y="8481961"/>
            <a:ext cx="13555407" cy="0"/>
          </a:xfrm>
          <a:prstGeom prst="line">
            <a:avLst/>
          </a:prstGeom>
          <a:ln w="6350"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FF97A08C-63D3-D778-4AE6-0DF765FCAA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3" y="-136782"/>
            <a:ext cx="1473407" cy="208415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B9B0F25-BB9F-ABD8-8B78-0D192E981331}"/>
              </a:ext>
            </a:extLst>
          </p:cNvPr>
          <p:cNvSpPr txBox="1"/>
          <p:nvPr/>
        </p:nvSpPr>
        <p:spPr>
          <a:xfrm>
            <a:off x="11126159" y="8692596"/>
            <a:ext cx="6364323" cy="31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Phigital</a:t>
            </a:r>
            <a:r>
              <a:rPr lang="en-CL" sz="1200" dirty="0"/>
              <a:t> </a:t>
            </a:r>
            <a:r>
              <a:rPr lang="en-CL" sz="2133" baseline="-25000" dirty="0">
                <a:solidFill>
                  <a:srgbClr val="1F0596"/>
                </a:solidFill>
              </a:rPr>
              <a:t>®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una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empresa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de Phoenix Service Chile –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Confidencial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- 2026</a:t>
            </a:r>
            <a:endParaRPr lang="en-CL" sz="1200" dirty="0">
              <a:solidFill>
                <a:srgbClr val="1F0596"/>
              </a:solidFill>
              <a:latin typeface="Inter Thin BETA" panose="020B0A02050000000004" pitchFamily="34" charset="0"/>
              <a:ea typeface="Inter Thin BETA" panose="020B0A020500000000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273B6D3-C195-6A3E-F805-0A935A377AF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789333" y="225928"/>
            <a:ext cx="8466667" cy="84666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0B2FCC-DE47-5BCA-87AB-3C34173A9880}"/>
              </a:ext>
            </a:extLst>
          </p:cNvPr>
          <p:cNvSpPr txBox="1">
            <a:spLocks/>
          </p:cNvSpPr>
          <p:nvPr/>
        </p:nvSpPr>
        <p:spPr>
          <a:xfrm>
            <a:off x="10450292" y="213617"/>
            <a:ext cx="5276592" cy="132080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867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Assessment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145AF7-33B1-A04D-01A3-607DACE0D65F}"/>
              </a:ext>
            </a:extLst>
          </p:cNvPr>
          <p:cNvCxnSpPr>
            <a:cxnSpLocks/>
          </p:cNvCxnSpPr>
          <p:nvPr/>
        </p:nvCxnSpPr>
        <p:spPr>
          <a:xfrm>
            <a:off x="4993789" y="1674619"/>
            <a:ext cx="11262211" cy="0"/>
          </a:xfrm>
          <a:prstGeom prst="line">
            <a:avLst/>
          </a:prstGeom>
          <a:ln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CFE65B-2C0B-E5C6-85B9-14C0589FA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960867"/>
              </p:ext>
            </p:extLst>
          </p:nvPr>
        </p:nvGraphicFramePr>
        <p:xfrm>
          <a:off x="365070" y="2671788"/>
          <a:ext cx="14697129" cy="459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530">
                  <a:extLst>
                    <a:ext uri="{9D8B030D-6E8A-4147-A177-3AD203B41FA5}">
                      <a16:colId xmlns:a16="http://schemas.microsoft.com/office/drawing/2014/main" val="2025511771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1438145137"/>
                    </a:ext>
                  </a:extLst>
                </a:gridCol>
                <a:gridCol w="6172199">
                  <a:extLst>
                    <a:ext uri="{9D8B030D-6E8A-4147-A177-3AD203B41FA5}">
                      <a16:colId xmlns:a16="http://schemas.microsoft.com/office/drawing/2014/main" val="57906113"/>
                    </a:ext>
                  </a:extLst>
                </a:gridCol>
              </a:tblGrid>
              <a:tr h="453248">
                <a:tc>
                  <a:txBody>
                    <a:bodyPr/>
                    <a:lstStyle/>
                    <a:p>
                      <a:r>
                        <a:rPr lang="en-CL" sz="1900" b="0" i="0" dirty="0">
                          <a:solidFill>
                            <a:schemeClr val="bg1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Dolor  / Fricción</a:t>
                      </a:r>
                    </a:p>
                  </a:txBody>
                  <a:tcPr marL="121920" marR="121920" marT="60960" marB="60960">
                    <a:solidFill>
                      <a:srgbClr val="1F05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L" sz="1900" b="0" i="0" dirty="0">
                          <a:solidFill>
                            <a:schemeClr val="bg1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Impacto comercial</a:t>
                      </a:r>
                    </a:p>
                  </a:txBody>
                  <a:tcPr marL="121920" marR="121920" marT="60960" marB="60960">
                    <a:solidFill>
                      <a:srgbClr val="1F05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L" sz="1900" b="0" i="0" dirty="0">
                          <a:solidFill>
                            <a:schemeClr val="bg1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Detalle</a:t>
                      </a:r>
                    </a:p>
                  </a:txBody>
                  <a:tcPr marL="121920" marR="121920" marT="60960" marB="60960">
                    <a:solidFill>
                      <a:srgbClr val="1F05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679670"/>
                  </a:ext>
                </a:extLst>
              </a:tr>
              <a:tr h="453248">
                <a:tc>
                  <a:txBody>
                    <a:bodyPr/>
                    <a:lstStyle/>
                    <a:p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Capacidad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humana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limitada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frente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a peaks de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conversación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Pérdida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de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oportunidades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por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demora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la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respuesta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La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demanda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existe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,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pero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no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siempre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alcanza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a ser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atendida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tiempo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4121841680"/>
                  </a:ext>
                </a:extLst>
              </a:tr>
              <a:tr h="453248"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Falta de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priorización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inteligente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de leads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El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tiempo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comercial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se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distribuye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sin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distinguir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urgencia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o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probabilidad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de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cierre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No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todas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las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conversaciones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valen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lo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mismo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,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pero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hoy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compiten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por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la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misma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atención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.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3562783356"/>
                  </a:ext>
                </a:extLst>
              </a:tr>
              <a:tr h="453248"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Baja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trazabilidad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del funnel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comercial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por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WhatsApp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Dificulta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entender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conversión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,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caída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y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eficiencia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del canal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WhatsApp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vende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,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pero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no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deja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suficiente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visibilidad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para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gestionar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el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funne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686224064"/>
                  </a:ext>
                </a:extLst>
              </a:tr>
              <a:tr h="453248">
                <a:tc>
                  <a:txBody>
                    <a:bodyPr/>
                    <a:lstStyle/>
                    <a:p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Conocimiento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comercial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concentrado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personas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Riesgo de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dependencia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operativa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y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dificultad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para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escalar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buenas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prácticas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El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criterio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comercial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existe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,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pero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no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está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convertido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sistema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.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98804867"/>
                  </a:ext>
                </a:extLst>
              </a:tr>
              <a:tr h="453248"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Alta carga manual antes y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después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del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cierre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Menos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tiempo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disponible para vender y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atender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nuevas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oportunidades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El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ejecutivo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no solo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vende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: también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administra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el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proceso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.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172115416"/>
                  </a:ext>
                </a:extLst>
              </a:tr>
              <a:tr h="453248">
                <a:tc>
                  <a:txBody>
                    <a:bodyPr/>
                    <a:lstStyle/>
                    <a:p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Integración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incompleta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entre WhatsApp, HubSpot y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operación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Doble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digitación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,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pérdida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de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contexto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y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menor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velocidad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de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gestión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El CRM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necesita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recibir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oportunidades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calificadas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, no solo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datos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cargados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manualmente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.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186379267"/>
                  </a:ext>
                </a:extLst>
              </a:tr>
              <a:tr h="453248"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Riesgo de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automatizar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sin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preservar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la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venta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consultiva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Posible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pérdida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de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calidad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, confianza y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venta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cruzada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Automatizar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respuestas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no basta; hay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que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conservar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el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criterio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comercial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.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4184300350"/>
                  </a:ext>
                </a:extLst>
              </a:tr>
              <a:tr h="453248">
                <a:tc>
                  <a:txBody>
                    <a:bodyPr/>
                    <a:lstStyle/>
                    <a:p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Requisitos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regulatorios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y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logísticos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del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producto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Mayor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fricción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la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conversión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y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riesgo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de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caída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por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información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incompleta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La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venta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no termina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en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el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interés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;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requiere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validar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condiciones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para </a:t>
                      </a:r>
                      <a:r>
                        <a:rPr lang="en-US" sz="1300" b="0" i="0" dirty="0" err="1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avanzar</a:t>
                      </a:r>
                      <a:r>
                        <a:rPr lang="en-US" sz="1300" b="0" i="0" dirty="0">
                          <a:solidFill>
                            <a:srgbClr val="1F059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.</a:t>
                      </a:r>
                      <a:endParaRPr lang="en-CL" sz="1300" b="0" i="0" dirty="0">
                        <a:solidFill>
                          <a:srgbClr val="1F059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23144100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925AB71-ED6F-DA89-53C5-3EFAECD3F60B}"/>
              </a:ext>
            </a:extLst>
          </p:cNvPr>
          <p:cNvSpPr txBox="1"/>
          <p:nvPr/>
        </p:nvSpPr>
        <p:spPr>
          <a:xfrm>
            <a:off x="175155" y="1947375"/>
            <a:ext cx="6689587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133" dirty="0" err="1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Principales</a:t>
            </a:r>
            <a:r>
              <a:rPr lang="en-US" sz="2133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 </a:t>
            </a:r>
            <a:r>
              <a:rPr lang="en-US" sz="2133" dirty="0" err="1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brechas</a:t>
            </a:r>
            <a:r>
              <a:rPr lang="en-US" sz="2133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 </a:t>
            </a:r>
            <a:r>
              <a:rPr lang="en-US" sz="2133" dirty="0" err="1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detectadas</a:t>
            </a:r>
            <a:endParaRPr lang="en-US" sz="2133" dirty="0">
              <a:solidFill>
                <a:srgbClr val="1F0596"/>
              </a:solidFill>
              <a:latin typeface="Inter Medium" panose="020B0502030000000004" pitchFamily="34" charset="0"/>
              <a:ea typeface="Inter Medium" panose="020B05020300000000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D2918A-B6BB-8133-481D-DB533DAFD4B0}"/>
              </a:ext>
            </a:extLst>
          </p:cNvPr>
          <p:cNvSpPr txBox="1"/>
          <p:nvPr/>
        </p:nvSpPr>
        <p:spPr>
          <a:xfrm>
            <a:off x="2818920" y="7503415"/>
            <a:ext cx="10618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“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Cirumed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no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enfrenta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un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problema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falta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demanda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sino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capacidad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para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capturar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priorizar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y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gestionar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oportunamente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las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oportunidades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que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ya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se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generan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dirty="0" err="1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</a:t>
            </a:r>
            <a:r>
              <a:rPr lang="en-US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WhatsApp.”</a:t>
            </a:r>
            <a:endParaRPr lang="en-CL" dirty="0">
              <a:solidFill>
                <a:srgbClr val="1F0496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836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EBEF6-DAAC-6FB0-7C7D-2855FD231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F71FDE-8D77-E8A5-AD45-2006F4DD6970}"/>
              </a:ext>
            </a:extLst>
          </p:cNvPr>
          <p:cNvCxnSpPr/>
          <p:nvPr/>
        </p:nvCxnSpPr>
        <p:spPr>
          <a:xfrm>
            <a:off x="1" y="8481961"/>
            <a:ext cx="13555407" cy="0"/>
          </a:xfrm>
          <a:prstGeom prst="line">
            <a:avLst/>
          </a:prstGeom>
          <a:ln w="6350"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AA19B7FD-6C02-4AD3-5E5F-7A351CFD0D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3" y="-136782"/>
            <a:ext cx="1473407" cy="208415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F7C13EC-A3EC-F7D0-DF7A-875B359E3117}"/>
              </a:ext>
            </a:extLst>
          </p:cNvPr>
          <p:cNvSpPr txBox="1"/>
          <p:nvPr/>
        </p:nvSpPr>
        <p:spPr>
          <a:xfrm>
            <a:off x="11126159" y="8692596"/>
            <a:ext cx="6364323" cy="31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Phigital</a:t>
            </a:r>
            <a:r>
              <a:rPr lang="en-CL" sz="1200" dirty="0"/>
              <a:t> </a:t>
            </a:r>
            <a:r>
              <a:rPr lang="en-CL" sz="2133" baseline="-25000" dirty="0">
                <a:solidFill>
                  <a:srgbClr val="1F0596"/>
                </a:solidFill>
              </a:rPr>
              <a:t>®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una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empresa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de Phoenix Service Chile –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Confidencial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- 2026</a:t>
            </a:r>
            <a:endParaRPr lang="en-CL" sz="1200" dirty="0">
              <a:solidFill>
                <a:srgbClr val="1F0596"/>
              </a:solidFill>
              <a:latin typeface="Inter Thin BETA" panose="020B0A02050000000004" pitchFamily="34" charset="0"/>
              <a:ea typeface="Inter Thin BETA" panose="020B0A020500000000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8F223A0-B354-F380-3E7B-5AB5B57C02E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789333" y="225928"/>
            <a:ext cx="8466667" cy="84666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FD5E7D-A4D5-EDF6-EEF5-EC00328C4F50}"/>
              </a:ext>
            </a:extLst>
          </p:cNvPr>
          <p:cNvSpPr txBox="1">
            <a:spLocks/>
          </p:cNvSpPr>
          <p:nvPr/>
        </p:nvSpPr>
        <p:spPr>
          <a:xfrm>
            <a:off x="10450292" y="213617"/>
            <a:ext cx="5276592" cy="132080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867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Assessment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53483FA-455F-FC00-7033-5DF308E93EB2}"/>
              </a:ext>
            </a:extLst>
          </p:cNvPr>
          <p:cNvCxnSpPr>
            <a:cxnSpLocks/>
          </p:cNvCxnSpPr>
          <p:nvPr/>
        </p:nvCxnSpPr>
        <p:spPr>
          <a:xfrm>
            <a:off x="4993789" y="1674619"/>
            <a:ext cx="11262211" cy="0"/>
          </a:xfrm>
          <a:prstGeom prst="line">
            <a:avLst/>
          </a:prstGeom>
          <a:ln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19414F0-452B-9423-6B54-80E04BB964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197" y="1936333"/>
            <a:ext cx="11387418" cy="640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388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12B44-921D-F505-DFBD-C750B9CF5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5F1F2CB-7CA2-0917-6FD1-32F9480B8F0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60596" y="0"/>
            <a:ext cx="9144000" cy="9144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BB937D-5D9E-BF05-3485-BBD906176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0292" y="213617"/>
            <a:ext cx="5276592" cy="1320800"/>
          </a:xfrm>
        </p:spPr>
        <p:txBody>
          <a:bodyPr anchor="b">
            <a:normAutofit/>
          </a:bodyPr>
          <a:lstStyle/>
          <a:p>
            <a:pPr algn="l"/>
            <a:r>
              <a:rPr lang="en-US" sz="5867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Approach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AB216F1-9A2A-F410-67E4-60F0DE6D9CE6}"/>
              </a:ext>
            </a:extLst>
          </p:cNvPr>
          <p:cNvCxnSpPr>
            <a:cxnSpLocks/>
          </p:cNvCxnSpPr>
          <p:nvPr/>
        </p:nvCxnSpPr>
        <p:spPr>
          <a:xfrm>
            <a:off x="4993789" y="1674619"/>
            <a:ext cx="11262211" cy="0"/>
          </a:xfrm>
          <a:prstGeom prst="line">
            <a:avLst/>
          </a:prstGeom>
          <a:ln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4002D5-48C9-D1A2-4C21-05C721AC563B}"/>
              </a:ext>
            </a:extLst>
          </p:cNvPr>
          <p:cNvSpPr txBox="1"/>
          <p:nvPr/>
        </p:nvSpPr>
        <p:spPr>
          <a:xfrm>
            <a:off x="11126159" y="8692596"/>
            <a:ext cx="6364323" cy="31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Phigital</a:t>
            </a:r>
            <a:r>
              <a:rPr lang="en-CL" sz="1200" dirty="0"/>
              <a:t> </a:t>
            </a:r>
            <a:r>
              <a:rPr lang="en-CL" sz="2133" baseline="-25000" dirty="0">
                <a:solidFill>
                  <a:srgbClr val="1F0596"/>
                </a:solidFill>
              </a:rPr>
              <a:t>®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una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empresa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de Phoenix Service Chile –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Confidencial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- 2026</a:t>
            </a:r>
            <a:endParaRPr lang="en-CL" sz="1200" dirty="0">
              <a:solidFill>
                <a:srgbClr val="1F0596"/>
              </a:solidFill>
              <a:latin typeface="Inter Thin BETA" panose="020B0A02050000000004" pitchFamily="34" charset="0"/>
              <a:ea typeface="Inter Thin BETA" panose="020B0A020500000000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B0A1305-7C88-14E7-A241-3D1D73EA0E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3" y="-136782"/>
            <a:ext cx="1473407" cy="20841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1C0207E-185B-46E7-4639-E7DB22B0FF9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686654">
            <a:off x="4085640" y="4361683"/>
            <a:ext cx="6467008" cy="914400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BD9F39C-37DC-E827-770F-9015DB229A78}"/>
              </a:ext>
            </a:extLst>
          </p:cNvPr>
          <p:cNvCxnSpPr/>
          <p:nvPr/>
        </p:nvCxnSpPr>
        <p:spPr>
          <a:xfrm>
            <a:off x="1" y="8481961"/>
            <a:ext cx="13555407" cy="0"/>
          </a:xfrm>
          <a:prstGeom prst="line">
            <a:avLst/>
          </a:prstGeom>
          <a:ln w="6350"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Detalle del ecosistema base que no será intervenido, incluyendo pauta de Meta, email marketing y CRM Salesforce.">
            <a:extLst>
              <a:ext uri="{FF2B5EF4-FFF2-40B4-BE49-F238E27FC236}">
                <a16:creationId xmlns:a16="http://schemas.microsoft.com/office/drawing/2014/main" id="{916ECD9D-44F9-D921-F204-EFFE3F4989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24800" y="43688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CL" sz="2400"/>
          </a:p>
        </p:txBody>
      </p:sp>
      <p:sp>
        <p:nvSpPr>
          <p:cNvPr id="9" name="AutoShape 4" descr="Detalle del ecosistema base que no será intervenido, incluyendo pauta de Meta, email marketing y CRM Salesforce.">
            <a:extLst>
              <a:ext uri="{FF2B5EF4-FFF2-40B4-BE49-F238E27FC236}">
                <a16:creationId xmlns:a16="http://schemas.microsoft.com/office/drawing/2014/main" id="{CECED574-4E24-03B6-2A11-00597176F8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28000" y="45720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CL" sz="2400" dirty="0"/>
          </a:p>
          <a:p>
            <a:endParaRPr lang="en-CL" sz="24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B3202D-DD33-70AF-9446-95B540B923DA}"/>
              </a:ext>
            </a:extLst>
          </p:cNvPr>
          <p:cNvSpPr txBox="1">
            <a:spLocks/>
          </p:cNvSpPr>
          <p:nvPr/>
        </p:nvSpPr>
        <p:spPr>
          <a:xfrm>
            <a:off x="3937000" y="4946094"/>
            <a:ext cx="12041721" cy="271293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Queremos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llevar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la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gestión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comercial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por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WhatsApp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un </a:t>
            </a:r>
            <a:r>
              <a:rPr lang="en-US" sz="3600" dirty="0" err="1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sistema</a:t>
            </a:r>
            <a:r>
              <a:rPr lang="en-US" sz="3600" dirty="0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inteligente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integrado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y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escalable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capaz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calificar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oportunidades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automatizar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fricciones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operativas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y </a:t>
            </a:r>
            <a:r>
              <a:rPr lang="en-US" sz="3600" dirty="0" err="1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potenciar</a:t>
            </a:r>
            <a:r>
              <a:rPr lang="en-US" sz="3600" dirty="0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 al </a:t>
            </a:r>
            <a:r>
              <a:rPr lang="en-US" sz="3600" dirty="0" err="1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equipo</a:t>
            </a:r>
            <a:r>
              <a:rPr lang="en-US" sz="3600" dirty="0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humano</a:t>
            </a:r>
            <a:r>
              <a:rPr lang="en-US" sz="3600" dirty="0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en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los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momentos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donde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realmente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genera valor.</a:t>
            </a:r>
          </a:p>
          <a:p>
            <a:endParaRPr lang="en-US" sz="3600" dirty="0">
              <a:solidFill>
                <a:srgbClr val="1F0596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Proponemos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construir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una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capa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de </a:t>
            </a:r>
            <a:r>
              <a:rPr lang="en-US" sz="3600" dirty="0" err="1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inteligencia</a:t>
            </a:r>
            <a:r>
              <a:rPr lang="en-US" sz="3600" dirty="0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highlight>
                  <a:srgbClr val="1F0496"/>
                </a:highlight>
                <a:latin typeface="Inter" panose="020B0502030000000004" pitchFamily="34" charset="0"/>
                <a:ea typeface="Inter" panose="020B0502030000000004" pitchFamily="34" charset="0"/>
              </a:rPr>
              <a:t>comercial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sobre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el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proceso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actual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conectando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plataformas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y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los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flujos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operativos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 posteriores al </a:t>
            </a:r>
            <a:r>
              <a:rPr lang="en-US" sz="3600" dirty="0" err="1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cierre</a:t>
            </a:r>
            <a:r>
              <a:rPr lang="en-US" sz="3600" dirty="0">
                <a:solidFill>
                  <a:srgbClr val="1F0596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3098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C6220-C9DB-EFD4-29B4-2F16E86A6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9DDAE81-2276-62DE-A6BE-7B47E5B19F2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60596" y="0"/>
            <a:ext cx="9144000" cy="9144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6619E1-251D-2634-C7DD-29212176F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0292" y="213617"/>
            <a:ext cx="5276592" cy="1320800"/>
          </a:xfrm>
        </p:spPr>
        <p:txBody>
          <a:bodyPr anchor="b">
            <a:normAutofit/>
          </a:bodyPr>
          <a:lstStyle/>
          <a:p>
            <a:pPr algn="l"/>
            <a:r>
              <a:rPr lang="en-US" sz="5867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Approach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89557C-3982-FE7B-0DEB-AA92CA994389}"/>
              </a:ext>
            </a:extLst>
          </p:cNvPr>
          <p:cNvCxnSpPr>
            <a:cxnSpLocks/>
          </p:cNvCxnSpPr>
          <p:nvPr/>
        </p:nvCxnSpPr>
        <p:spPr>
          <a:xfrm>
            <a:off x="4993789" y="1674619"/>
            <a:ext cx="11262211" cy="0"/>
          </a:xfrm>
          <a:prstGeom prst="line">
            <a:avLst/>
          </a:prstGeom>
          <a:ln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9FF9204-E26A-145D-EF3C-4558BBBDB23C}"/>
              </a:ext>
            </a:extLst>
          </p:cNvPr>
          <p:cNvSpPr txBox="1"/>
          <p:nvPr/>
        </p:nvSpPr>
        <p:spPr>
          <a:xfrm>
            <a:off x="11126159" y="8692596"/>
            <a:ext cx="6364323" cy="31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Phigital</a:t>
            </a:r>
            <a:r>
              <a:rPr lang="en-CL" sz="1200" dirty="0"/>
              <a:t> </a:t>
            </a:r>
            <a:r>
              <a:rPr lang="en-CL" sz="2133" baseline="-25000" dirty="0">
                <a:solidFill>
                  <a:srgbClr val="1F0596"/>
                </a:solidFill>
              </a:rPr>
              <a:t>®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una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empresa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de Phoenix Service Chile –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Confidencial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- 2026</a:t>
            </a:r>
            <a:endParaRPr lang="en-CL" sz="1200" dirty="0">
              <a:solidFill>
                <a:srgbClr val="1F0596"/>
              </a:solidFill>
              <a:latin typeface="Inter Thin BETA" panose="020B0A02050000000004" pitchFamily="34" charset="0"/>
              <a:ea typeface="Inter Thin BETA" panose="020B0A020500000000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41B9AE9-B597-7F82-1EF0-2B2173B497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3" y="-136782"/>
            <a:ext cx="1473407" cy="20841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08267ED-CAB5-4BAB-482F-025E7787649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686654">
            <a:off x="4085640" y="4361683"/>
            <a:ext cx="6467008" cy="914400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16B8277-0FA7-006A-AB9C-1F2A1AC48E56}"/>
              </a:ext>
            </a:extLst>
          </p:cNvPr>
          <p:cNvCxnSpPr/>
          <p:nvPr/>
        </p:nvCxnSpPr>
        <p:spPr>
          <a:xfrm>
            <a:off x="1" y="8481961"/>
            <a:ext cx="13555407" cy="0"/>
          </a:xfrm>
          <a:prstGeom prst="line">
            <a:avLst/>
          </a:prstGeom>
          <a:ln w="6350"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E3CA19D-856B-889E-891B-B76D464A54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800" y="1838865"/>
            <a:ext cx="11058213" cy="622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69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4622"/>
          <a:stretch>
            <a:fillRect/>
          </a:stretch>
        </p:blipFill>
        <p:spPr>
          <a:xfrm>
            <a:off x="508000" y="1849991"/>
            <a:ext cx="12700000" cy="675679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3763B25-29B0-65A9-537B-6BF92FB305FF}"/>
              </a:ext>
            </a:extLst>
          </p:cNvPr>
          <p:cNvSpPr txBox="1">
            <a:spLocks/>
          </p:cNvSpPr>
          <p:nvPr/>
        </p:nvSpPr>
        <p:spPr>
          <a:xfrm>
            <a:off x="10450292" y="213617"/>
            <a:ext cx="5276592" cy="13208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867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Approach</a:t>
            </a:r>
            <a:endParaRPr lang="en-US" sz="5867" dirty="0">
              <a:solidFill>
                <a:srgbClr val="1F0596"/>
              </a:solidFill>
              <a:latin typeface="Inter Medium" panose="020B0502030000000004" pitchFamily="34" charset="0"/>
              <a:ea typeface="Inter Medium" panose="020B05020300000000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73D5031-13E6-07B1-F37A-38BBD9D9400C}"/>
              </a:ext>
            </a:extLst>
          </p:cNvPr>
          <p:cNvCxnSpPr>
            <a:cxnSpLocks/>
          </p:cNvCxnSpPr>
          <p:nvPr/>
        </p:nvCxnSpPr>
        <p:spPr>
          <a:xfrm>
            <a:off x="4993789" y="1674619"/>
            <a:ext cx="11262211" cy="0"/>
          </a:xfrm>
          <a:prstGeom prst="line">
            <a:avLst/>
          </a:prstGeom>
          <a:ln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9134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63AE2-3428-C884-9056-1FCA0753D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94C5B91-A427-78DE-2066-92BD55004BB5}"/>
                  </a:ext>
                </a:extLst>
              </p14:cNvPr>
              <p14:cNvContentPartPr/>
              <p14:nvPr/>
            </p14:nvContentPartPr>
            <p14:xfrm>
              <a:off x="2739556" y="472009"/>
              <a:ext cx="5760" cy="163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94C5B91-A427-78DE-2066-92BD55004B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03556" y="259139"/>
                <a:ext cx="77400" cy="441704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8899110-6708-D341-A2C2-4C45CF1922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3" y="-136782"/>
            <a:ext cx="1473407" cy="20841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F8BA40-5777-C74A-ADFE-B454730F167B}"/>
              </a:ext>
            </a:extLst>
          </p:cNvPr>
          <p:cNvSpPr txBox="1"/>
          <p:nvPr/>
        </p:nvSpPr>
        <p:spPr>
          <a:xfrm>
            <a:off x="11126159" y="8692596"/>
            <a:ext cx="6364323" cy="31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Phigital</a:t>
            </a:r>
            <a:r>
              <a:rPr lang="en-CL" sz="1200" dirty="0"/>
              <a:t> </a:t>
            </a:r>
            <a:r>
              <a:rPr lang="en-CL" sz="2133" baseline="-25000" dirty="0">
                <a:solidFill>
                  <a:srgbClr val="1F0596"/>
                </a:solidFill>
              </a:rPr>
              <a:t>®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una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empresa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de Phoenix Service Chile –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Confidencial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- 2026</a:t>
            </a:r>
            <a:endParaRPr lang="en-CL" sz="1200" dirty="0">
              <a:solidFill>
                <a:srgbClr val="1F0596"/>
              </a:solidFill>
              <a:latin typeface="Inter Thin BETA" panose="020B0A02050000000004" pitchFamily="34" charset="0"/>
              <a:ea typeface="Inter Thin BETA" panose="020B0A020500000000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3C27A7-48B0-8968-C25D-2365D1BE649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437">
            <a:off x="12880274" y="1266821"/>
            <a:ext cx="5442644" cy="76987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872ECDD-8A20-AA2E-6238-27F2BA99447C}"/>
              </a:ext>
            </a:extLst>
          </p:cNvPr>
          <p:cNvSpPr txBox="1">
            <a:spLocks/>
          </p:cNvSpPr>
          <p:nvPr/>
        </p:nvSpPr>
        <p:spPr>
          <a:xfrm>
            <a:off x="9014150" y="275440"/>
            <a:ext cx="8965865" cy="13208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867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Engagement Model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46B0E4-B311-4852-982D-57A015ADC52D}"/>
              </a:ext>
            </a:extLst>
          </p:cNvPr>
          <p:cNvCxnSpPr>
            <a:cxnSpLocks/>
          </p:cNvCxnSpPr>
          <p:nvPr/>
        </p:nvCxnSpPr>
        <p:spPr>
          <a:xfrm>
            <a:off x="4993789" y="1674619"/>
            <a:ext cx="11262211" cy="0"/>
          </a:xfrm>
          <a:prstGeom prst="line">
            <a:avLst/>
          </a:prstGeom>
          <a:ln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B27DD6E-6BE0-3F4E-90A4-F2D1BDB118F7}"/>
              </a:ext>
            </a:extLst>
          </p:cNvPr>
          <p:cNvCxnSpPr/>
          <p:nvPr/>
        </p:nvCxnSpPr>
        <p:spPr>
          <a:xfrm>
            <a:off x="1" y="8481961"/>
            <a:ext cx="13555407" cy="0"/>
          </a:xfrm>
          <a:prstGeom prst="line">
            <a:avLst/>
          </a:prstGeom>
          <a:ln w="6350"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92E3272-394D-E778-C769-2032468EEF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2"/>
          <a:stretch>
            <a:fillRect/>
          </a:stretch>
        </p:blipFill>
        <p:spPr>
          <a:xfrm>
            <a:off x="1879600" y="1792368"/>
            <a:ext cx="11985522" cy="655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737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3" name="Shape 1"/>
          <p:cNvSpPr/>
          <p:nvPr/>
        </p:nvSpPr>
        <p:spPr>
          <a:xfrm>
            <a:off x="512064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4" name="Shape 2"/>
          <p:cNvSpPr/>
          <p:nvPr/>
        </p:nvSpPr>
        <p:spPr>
          <a:xfrm>
            <a:off x="1024128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5" name="Shape 3"/>
          <p:cNvSpPr/>
          <p:nvPr/>
        </p:nvSpPr>
        <p:spPr>
          <a:xfrm>
            <a:off x="1536192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6" name="Shape 4"/>
          <p:cNvSpPr/>
          <p:nvPr/>
        </p:nvSpPr>
        <p:spPr>
          <a:xfrm>
            <a:off x="2048256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7" name="Shape 5"/>
          <p:cNvSpPr/>
          <p:nvPr/>
        </p:nvSpPr>
        <p:spPr>
          <a:xfrm>
            <a:off x="2560320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8" name="Shape 6"/>
          <p:cNvSpPr/>
          <p:nvPr/>
        </p:nvSpPr>
        <p:spPr>
          <a:xfrm>
            <a:off x="3072384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9" name="Shape 7"/>
          <p:cNvSpPr/>
          <p:nvPr/>
        </p:nvSpPr>
        <p:spPr>
          <a:xfrm>
            <a:off x="3584448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10" name="Shape 8"/>
          <p:cNvSpPr/>
          <p:nvPr/>
        </p:nvSpPr>
        <p:spPr>
          <a:xfrm>
            <a:off x="4096512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11" name="Shape 9"/>
          <p:cNvSpPr/>
          <p:nvPr/>
        </p:nvSpPr>
        <p:spPr>
          <a:xfrm>
            <a:off x="4608576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12" name="Shape 10"/>
          <p:cNvSpPr/>
          <p:nvPr/>
        </p:nvSpPr>
        <p:spPr>
          <a:xfrm>
            <a:off x="5120640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13" name="Shape 11"/>
          <p:cNvSpPr/>
          <p:nvPr/>
        </p:nvSpPr>
        <p:spPr>
          <a:xfrm>
            <a:off x="5632704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14" name="Shape 12"/>
          <p:cNvSpPr/>
          <p:nvPr/>
        </p:nvSpPr>
        <p:spPr>
          <a:xfrm>
            <a:off x="6144768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15" name="Shape 13"/>
          <p:cNvSpPr/>
          <p:nvPr/>
        </p:nvSpPr>
        <p:spPr>
          <a:xfrm>
            <a:off x="6656832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16" name="Shape 14"/>
          <p:cNvSpPr/>
          <p:nvPr/>
        </p:nvSpPr>
        <p:spPr>
          <a:xfrm>
            <a:off x="7168896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17" name="Shape 15"/>
          <p:cNvSpPr/>
          <p:nvPr/>
        </p:nvSpPr>
        <p:spPr>
          <a:xfrm>
            <a:off x="7680960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18" name="Shape 16"/>
          <p:cNvSpPr/>
          <p:nvPr/>
        </p:nvSpPr>
        <p:spPr>
          <a:xfrm>
            <a:off x="8193024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19" name="Shape 17"/>
          <p:cNvSpPr/>
          <p:nvPr/>
        </p:nvSpPr>
        <p:spPr>
          <a:xfrm>
            <a:off x="8705088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20" name="Shape 18"/>
          <p:cNvSpPr/>
          <p:nvPr/>
        </p:nvSpPr>
        <p:spPr>
          <a:xfrm>
            <a:off x="9217152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21" name="Shape 19"/>
          <p:cNvSpPr/>
          <p:nvPr/>
        </p:nvSpPr>
        <p:spPr>
          <a:xfrm>
            <a:off x="9729216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22" name="Shape 20"/>
          <p:cNvSpPr/>
          <p:nvPr/>
        </p:nvSpPr>
        <p:spPr>
          <a:xfrm>
            <a:off x="10241280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23" name="Shape 21"/>
          <p:cNvSpPr/>
          <p:nvPr/>
        </p:nvSpPr>
        <p:spPr>
          <a:xfrm>
            <a:off x="10753344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24" name="Shape 22"/>
          <p:cNvSpPr/>
          <p:nvPr/>
        </p:nvSpPr>
        <p:spPr>
          <a:xfrm>
            <a:off x="11265408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25" name="Shape 23"/>
          <p:cNvSpPr/>
          <p:nvPr/>
        </p:nvSpPr>
        <p:spPr>
          <a:xfrm>
            <a:off x="11777472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26" name="Shape 24"/>
          <p:cNvSpPr/>
          <p:nvPr/>
        </p:nvSpPr>
        <p:spPr>
          <a:xfrm>
            <a:off x="12289536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27" name="Shape 25"/>
          <p:cNvSpPr/>
          <p:nvPr/>
        </p:nvSpPr>
        <p:spPr>
          <a:xfrm>
            <a:off x="12801600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28" name="Shape 26"/>
          <p:cNvSpPr/>
          <p:nvPr/>
        </p:nvSpPr>
        <p:spPr>
          <a:xfrm>
            <a:off x="13313664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29" name="Shape 27"/>
          <p:cNvSpPr/>
          <p:nvPr/>
        </p:nvSpPr>
        <p:spPr>
          <a:xfrm>
            <a:off x="13825728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30" name="Shape 28"/>
          <p:cNvSpPr/>
          <p:nvPr/>
        </p:nvSpPr>
        <p:spPr>
          <a:xfrm>
            <a:off x="14337792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31" name="Shape 29"/>
          <p:cNvSpPr/>
          <p:nvPr/>
        </p:nvSpPr>
        <p:spPr>
          <a:xfrm>
            <a:off x="14849856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32" name="Shape 30"/>
          <p:cNvSpPr/>
          <p:nvPr/>
        </p:nvSpPr>
        <p:spPr>
          <a:xfrm>
            <a:off x="15361920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33" name="Shape 31"/>
          <p:cNvSpPr/>
          <p:nvPr/>
        </p:nvSpPr>
        <p:spPr>
          <a:xfrm>
            <a:off x="15873984" y="0"/>
            <a:ext cx="0" cy="914400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34" name="Shape 32"/>
          <p:cNvSpPr/>
          <p:nvPr/>
        </p:nvSpPr>
        <p:spPr>
          <a:xfrm>
            <a:off x="1" y="0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35" name="Shape 33"/>
          <p:cNvSpPr/>
          <p:nvPr/>
        </p:nvSpPr>
        <p:spPr>
          <a:xfrm>
            <a:off x="1" y="512064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36" name="Shape 34"/>
          <p:cNvSpPr/>
          <p:nvPr/>
        </p:nvSpPr>
        <p:spPr>
          <a:xfrm>
            <a:off x="1" y="1024128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37" name="Shape 35"/>
          <p:cNvSpPr/>
          <p:nvPr/>
        </p:nvSpPr>
        <p:spPr>
          <a:xfrm>
            <a:off x="61334" y="1771351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38" name="Shape 36"/>
          <p:cNvSpPr/>
          <p:nvPr/>
        </p:nvSpPr>
        <p:spPr>
          <a:xfrm>
            <a:off x="61334" y="2283415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39" name="Shape 37"/>
          <p:cNvSpPr/>
          <p:nvPr/>
        </p:nvSpPr>
        <p:spPr>
          <a:xfrm>
            <a:off x="61334" y="2795479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40" name="Shape 38"/>
          <p:cNvSpPr/>
          <p:nvPr/>
        </p:nvSpPr>
        <p:spPr>
          <a:xfrm>
            <a:off x="61334" y="3307543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41" name="Shape 39"/>
          <p:cNvSpPr/>
          <p:nvPr/>
        </p:nvSpPr>
        <p:spPr>
          <a:xfrm>
            <a:off x="61334" y="3819607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42" name="Shape 40"/>
          <p:cNvSpPr/>
          <p:nvPr/>
        </p:nvSpPr>
        <p:spPr>
          <a:xfrm>
            <a:off x="61334" y="4331671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43" name="Shape 41"/>
          <p:cNvSpPr/>
          <p:nvPr/>
        </p:nvSpPr>
        <p:spPr>
          <a:xfrm>
            <a:off x="61334" y="4843735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44" name="Shape 42"/>
          <p:cNvSpPr/>
          <p:nvPr/>
        </p:nvSpPr>
        <p:spPr>
          <a:xfrm>
            <a:off x="61334" y="5355799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45" name="Shape 43"/>
          <p:cNvSpPr/>
          <p:nvPr/>
        </p:nvSpPr>
        <p:spPr>
          <a:xfrm>
            <a:off x="61334" y="5867863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46" name="Shape 44"/>
          <p:cNvSpPr/>
          <p:nvPr/>
        </p:nvSpPr>
        <p:spPr>
          <a:xfrm>
            <a:off x="61334" y="6379927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47" name="Shape 45"/>
          <p:cNvSpPr/>
          <p:nvPr/>
        </p:nvSpPr>
        <p:spPr>
          <a:xfrm>
            <a:off x="61334" y="6891991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48" name="Shape 46"/>
          <p:cNvSpPr/>
          <p:nvPr/>
        </p:nvSpPr>
        <p:spPr>
          <a:xfrm>
            <a:off x="61334" y="7404055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49" name="Shape 47"/>
          <p:cNvSpPr/>
          <p:nvPr/>
        </p:nvSpPr>
        <p:spPr>
          <a:xfrm>
            <a:off x="61334" y="7916119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50" name="Shape 48"/>
          <p:cNvSpPr/>
          <p:nvPr/>
        </p:nvSpPr>
        <p:spPr>
          <a:xfrm>
            <a:off x="61334" y="8428183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51" name="Shape 49"/>
          <p:cNvSpPr/>
          <p:nvPr/>
        </p:nvSpPr>
        <p:spPr>
          <a:xfrm>
            <a:off x="1" y="8705088"/>
            <a:ext cx="16255593" cy="0"/>
          </a:xfrm>
          <a:prstGeom prst="line">
            <a:avLst/>
          </a:prstGeom>
          <a:noFill/>
          <a:ln w="3810">
            <a:solidFill>
              <a:srgbClr val="EDF3F7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sp>
        <p:nvSpPr>
          <p:cNvPr id="52" name="Shape 50"/>
          <p:cNvSpPr/>
          <p:nvPr/>
        </p:nvSpPr>
        <p:spPr>
          <a:xfrm>
            <a:off x="0" y="0"/>
            <a:ext cx="16251936" cy="0"/>
          </a:xfrm>
          <a:prstGeom prst="line">
            <a:avLst/>
          </a:prstGeom>
          <a:noFill/>
          <a:ln w="76200">
            <a:solidFill>
              <a:srgbClr val="236092"/>
            </a:solidFill>
            <a:prstDash val="solid"/>
          </a:ln>
        </p:spPr>
        <p:txBody>
          <a:bodyPr/>
          <a:lstStyle/>
          <a:p>
            <a:endParaRPr lang="en-CL" sz="2400"/>
          </a:p>
        </p:txBody>
      </p:sp>
      <p:pic>
        <p:nvPicPr>
          <p:cNvPr id="54" name="Image 0" descr="/mnt/data/im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4287" y="219456"/>
            <a:ext cx="2155907" cy="780288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609599" y="950976"/>
            <a:ext cx="8947889" cy="463296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Autofit/>
          </a:bodyPr>
          <a:lstStyle/>
          <a:p>
            <a:r>
              <a:rPr lang="en-US" sz="5800" dirty="0">
                <a:solidFill>
                  <a:srgbClr val="1F0496"/>
                </a:solidFill>
                <a:latin typeface="Inter" panose="020B0502030000000004" pitchFamily="34" charset="0"/>
                <a:ea typeface="Inter" panose="020B0502030000000004" pitchFamily="34" charset="0"/>
                <a:cs typeface="Aptos Display" pitchFamily="34" charset="-120"/>
              </a:rPr>
              <a:t>Modelo de Engagement</a:t>
            </a:r>
            <a:endParaRPr lang="en-US" sz="5800" dirty="0">
              <a:solidFill>
                <a:srgbClr val="1F0496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647334" y="1832311"/>
            <a:ext cx="11704320" cy="341376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r>
              <a:rPr lang="en-US" sz="1653" dirty="0">
                <a:solidFill>
                  <a:srgbClr val="575757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IA como copiloto comercial para absorber volumen, calificar oportunidades y transferir contexto al equipo humano.</a:t>
            </a:r>
            <a:endParaRPr lang="en-US" sz="165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978494" y="2400802"/>
            <a:ext cx="2133600" cy="292608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r>
              <a:rPr lang="en-US" sz="1733" dirty="0">
                <a:solidFill>
                  <a:srgbClr val="236092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Principio del modelo</a:t>
            </a:r>
            <a:endParaRPr lang="en-US" sz="17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3175497" y="2364419"/>
            <a:ext cx="10850880" cy="36576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 fontScale="92500"/>
          </a:bodyPr>
          <a:lstStyle/>
          <a:p>
            <a:r>
              <a:rPr lang="en-US" sz="1400" dirty="0">
                <a:solidFill>
                  <a:srgbClr val="212529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Separar volumen transaccional y decisiones de alto valor: la IA atiende, clasifica y prepara; el humano cierra, asesora y desarrolla cartera.</a:t>
            </a:r>
            <a:endParaRPr lang="en-US" sz="140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853813" y="2917399"/>
            <a:ext cx="4389120" cy="30480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r>
              <a:rPr lang="en-US" sz="1733" dirty="0">
                <a:solidFill>
                  <a:srgbClr val="236092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La Máquina · 24/7 · No sincrónica</a:t>
            </a:r>
            <a:endParaRPr lang="en-US" sz="17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853813" y="3307543"/>
            <a:ext cx="5181600" cy="0"/>
          </a:xfrm>
          <a:prstGeom prst="line">
            <a:avLst/>
          </a:prstGeom>
          <a:noFill/>
          <a:ln w="25400">
            <a:solidFill>
              <a:srgbClr val="236092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6279253" y="2917399"/>
            <a:ext cx="2865120" cy="30480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733" dirty="0">
                <a:solidFill>
                  <a:srgbClr val="EBA53D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Línea de transferencia</a:t>
            </a:r>
            <a:endParaRPr lang="en-US" sz="17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7681333" y="3307543"/>
            <a:ext cx="0" cy="3474720"/>
          </a:xfrm>
          <a:prstGeom prst="line">
            <a:avLst/>
          </a:prstGeom>
          <a:noFill/>
          <a:ln w="25400">
            <a:solidFill>
              <a:srgbClr val="EBA53D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9875893" y="2917399"/>
            <a:ext cx="5120640" cy="30480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r>
              <a:rPr lang="en-US" sz="1733" dirty="0">
                <a:solidFill>
                  <a:srgbClr val="38B82C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El Humano · Alto valor · Sincrónica</a:t>
            </a:r>
            <a:endParaRPr lang="en-US" sz="17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9875893" y="3307543"/>
            <a:ext cx="5547360" cy="0"/>
          </a:xfrm>
          <a:prstGeom prst="line">
            <a:avLst/>
          </a:prstGeom>
          <a:noFill/>
          <a:ln w="25400">
            <a:solidFill>
              <a:srgbClr val="38B82C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1158613" y="4112215"/>
            <a:ext cx="5547360" cy="0"/>
          </a:xfrm>
          <a:prstGeom prst="line">
            <a:avLst/>
          </a:prstGeom>
          <a:noFill/>
          <a:ln w="22860">
            <a:solidFill>
              <a:srgbClr val="236092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6376789" y="4112215"/>
            <a:ext cx="2682240" cy="0"/>
          </a:xfrm>
          <a:prstGeom prst="line">
            <a:avLst/>
          </a:prstGeom>
          <a:noFill/>
          <a:ln w="27940">
            <a:solidFill>
              <a:srgbClr val="EBA53D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7" name="Shape 64"/>
          <p:cNvSpPr/>
          <p:nvPr/>
        </p:nvSpPr>
        <p:spPr>
          <a:xfrm>
            <a:off x="9997813" y="4112215"/>
            <a:ext cx="4572000" cy="0"/>
          </a:xfrm>
          <a:prstGeom prst="line">
            <a:avLst/>
          </a:prstGeom>
          <a:noFill/>
          <a:ln w="22860">
            <a:solidFill>
              <a:srgbClr val="38B82C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1048885" y="3941527"/>
            <a:ext cx="341376" cy="341376"/>
          </a:xfrm>
          <a:prstGeom prst="ellipse">
            <a:avLst/>
          </a:prstGeom>
          <a:solidFill>
            <a:srgbClr val="236092"/>
          </a:solidFill>
          <a:ln w="12700">
            <a:solidFill>
              <a:srgbClr val="236092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1061077" y="3356311"/>
            <a:ext cx="316992" cy="219456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333" dirty="0">
                <a:solidFill>
                  <a:srgbClr val="236092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1</a:t>
            </a:r>
            <a:endParaRPr lang="en-US" sz="13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366133" y="4453591"/>
            <a:ext cx="1706880" cy="24384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360" dirty="0">
                <a:solidFill>
                  <a:srgbClr val="212529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Captura WhatsApp</a:t>
            </a:r>
            <a:endParaRPr lang="en-US" sz="136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341749" y="4770583"/>
            <a:ext cx="1755648" cy="60960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013" dirty="0">
                <a:solidFill>
                  <a:srgbClr val="575757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Difusión, consultas y respuestas comerciales.</a:t>
            </a:r>
            <a:endParaRPr lang="en-US" sz="101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3243445" y="3941527"/>
            <a:ext cx="341376" cy="341376"/>
          </a:xfrm>
          <a:prstGeom prst="ellipse">
            <a:avLst/>
          </a:prstGeom>
          <a:solidFill>
            <a:srgbClr val="236092"/>
          </a:solidFill>
          <a:ln w="12700">
            <a:solidFill>
              <a:srgbClr val="236092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3255637" y="3356311"/>
            <a:ext cx="316992" cy="219456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333" dirty="0">
                <a:solidFill>
                  <a:srgbClr val="236092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2</a:t>
            </a:r>
            <a:endParaRPr lang="en-US" sz="13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2560693" y="4453591"/>
            <a:ext cx="1706880" cy="24384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360" dirty="0">
                <a:solidFill>
                  <a:srgbClr val="212529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Triage IA</a:t>
            </a:r>
            <a:endParaRPr lang="en-US" sz="136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2536309" y="4770583"/>
            <a:ext cx="1755648" cy="60960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013" dirty="0">
                <a:solidFill>
                  <a:srgbClr val="575757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Intención, urgencia, producto y señales de compra.</a:t>
            </a:r>
            <a:endParaRPr lang="en-US" sz="101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76" name="Shape 73"/>
          <p:cNvSpPr/>
          <p:nvPr/>
        </p:nvSpPr>
        <p:spPr>
          <a:xfrm>
            <a:off x="5438005" y="3941527"/>
            <a:ext cx="341376" cy="341376"/>
          </a:xfrm>
          <a:prstGeom prst="ellipse">
            <a:avLst/>
          </a:prstGeom>
          <a:solidFill>
            <a:srgbClr val="236092"/>
          </a:solidFill>
          <a:ln w="12700">
            <a:solidFill>
              <a:srgbClr val="236092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5450197" y="3356311"/>
            <a:ext cx="316992" cy="219456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333" dirty="0">
                <a:solidFill>
                  <a:srgbClr val="236092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3</a:t>
            </a:r>
            <a:endParaRPr lang="en-US" sz="13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4755253" y="4453591"/>
            <a:ext cx="1706880" cy="24384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360" dirty="0">
                <a:solidFill>
                  <a:srgbClr val="212529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Validación asistida</a:t>
            </a:r>
            <a:endParaRPr lang="en-US" sz="136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79" name="Text 76"/>
          <p:cNvSpPr/>
          <p:nvPr/>
        </p:nvSpPr>
        <p:spPr>
          <a:xfrm>
            <a:off x="4730869" y="4770583"/>
            <a:ext cx="1755648" cy="60960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013" dirty="0">
                <a:solidFill>
                  <a:srgbClr val="575757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Receta, pago, datos y dudas frecuentes.</a:t>
            </a:r>
            <a:endParaRPr lang="en-US" sz="101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80" name="Text 77"/>
          <p:cNvSpPr/>
          <p:nvPr/>
        </p:nvSpPr>
        <p:spPr>
          <a:xfrm>
            <a:off x="6705973" y="4599895"/>
            <a:ext cx="1950720" cy="268224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 fontScale="77500" lnSpcReduction="20000"/>
          </a:bodyPr>
          <a:lstStyle/>
          <a:p>
            <a:pPr algn="ctr"/>
            <a:r>
              <a:rPr lang="en-US" sz="1440" dirty="0">
                <a:solidFill>
                  <a:srgbClr val="0C0C0C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Transferencia con contexto</a:t>
            </a:r>
            <a:endParaRPr lang="en-US" sz="144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81" name="Text 78"/>
          <p:cNvSpPr/>
          <p:nvPr/>
        </p:nvSpPr>
        <p:spPr>
          <a:xfrm>
            <a:off x="6596245" y="4990039"/>
            <a:ext cx="2170176" cy="414528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067" dirty="0">
                <a:solidFill>
                  <a:srgbClr val="575757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Resumen, score, requisito pendiente y próxima acción.</a:t>
            </a:r>
            <a:endParaRPr lang="en-US" sz="1067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82" name="Shape 79"/>
          <p:cNvSpPr/>
          <p:nvPr/>
        </p:nvSpPr>
        <p:spPr>
          <a:xfrm>
            <a:off x="9949045" y="3941527"/>
            <a:ext cx="341376" cy="341376"/>
          </a:xfrm>
          <a:prstGeom prst="ellipse">
            <a:avLst/>
          </a:prstGeom>
          <a:solidFill>
            <a:srgbClr val="38B82C"/>
          </a:solidFill>
          <a:ln w="12700">
            <a:solidFill>
              <a:srgbClr val="38B82C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83" name="Text 80"/>
          <p:cNvSpPr/>
          <p:nvPr/>
        </p:nvSpPr>
        <p:spPr>
          <a:xfrm>
            <a:off x="9961237" y="3356311"/>
            <a:ext cx="316992" cy="219456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333" dirty="0">
                <a:solidFill>
                  <a:srgbClr val="38B82C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4</a:t>
            </a:r>
            <a:endParaRPr lang="en-US" sz="13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84" name="Text 81"/>
          <p:cNvSpPr/>
          <p:nvPr/>
        </p:nvSpPr>
        <p:spPr>
          <a:xfrm>
            <a:off x="9266293" y="4453591"/>
            <a:ext cx="1706880" cy="24384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360" dirty="0">
                <a:solidFill>
                  <a:srgbClr val="212529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HubSpot CRM</a:t>
            </a:r>
            <a:endParaRPr lang="en-US" sz="136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85" name="Text 82"/>
          <p:cNvSpPr/>
          <p:nvPr/>
        </p:nvSpPr>
        <p:spPr>
          <a:xfrm>
            <a:off x="9241909" y="4770583"/>
            <a:ext cx="1755648" cy="60960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013" dirty="0">
                <a:solidFill>
                  <a:srgbClr val="575757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Lead u oportunidad con contexto completo.</a:t>
            </a:r>
            <a:endParaRPr lang="en-US" sz="101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86" name="Shape 83"/>
          <p:cNvSpPr/>
          <p:nvPr/>
        </p:nvSpPr>
        <p:spPr>
          <a:xfrm>
            <a:off x="12143605" y="3941527"/>
            <a:ext cx="341376" cy="341376"/>
          </a:xfrm>
          <a:prstGeom prst="ellipse">
            <a:avLst/>
          </a:prstGeom>
          <a:solidFill>
            <a:srgbClr val="38B82C"/>
          </a:solidFill>
          <a:ln w="12700">
            <a:solidFill>
              <a:srgbClr val="38B82C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87" name="Text 84"/>
          <p:cNvSpPr/>
          <p:nvPr/>
        </p:nvSpPr>
        <p:spPr>
          <a:xfrm>
            <a:off x="12155797" y="3356311"/>
            <a:ext cx="316992" cy="219456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333" dirty="0">
                <a:solidFill>
                  <a:srgbClr val="38B82C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5</a:t>
            </a:r>
            <a:endParaRPr lang="en-US" sz="13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88" name="Text 85"/>
          <p:cNvSpPr/>
          <p:nvPr/>
        </p:nvSpPr>
        <p:spPr>
          <a:xfrm>
            <a:off x="11460853" y="4453591"/>
            <a:ext cx="1706880" cy="24384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360" dirty="0">
                <a:solidFill>
                  <a:srgbClr val="212529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Ejecutivo comercial</a:t>
            </a:r>
            <a:endParaRPr lang="en-US" sz="136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89" name="Text 86"/>
          <p:cNvSpPr/>
          <p:nvPr/>
        </p:nvSpPr>
        <p:spPr>
          <a:xfrm>
            <a:off x="11436469" y="4770583"/>
            <a:ext cx="1755648" cy="60960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013" dirty="0">
                <a:solidFill>
                  <a:srgbClr val="575757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Cierre consultivo, upselling y relación.</a:t>
            </a:r>
            <a:endParaRPr lang="en-US" sz="101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0" name="Shape 87"/>
          <p:cNvSpPr/>
          <p:nvPr/>
        </p:nvSpPr>
        <p:spPr>
          <a:xfrm>
            <a:off x="14338165" y="3941527"/>
            <a:ext cx="341376" cy="341376"/>
          </a:xfrm>
          <a:prstGeom prst="ellipse">
            <a:avLst/>
          </a:prstGeom>
          <a:solidFill>
            <a:srgbClr val="38B82C"/>
          </a:solidFill>
          <a:ln w="12700">
            <a:solidFill>
              <a:srgbClr val="38B82C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1" name="Text 88"/>
          <p:cNvSpPr/>
          <p:nvPr/>
        </p:nvSpPr>
        <p:spPr>
          <a:xfrm>
            <a:off x="14350357" y="3356311"/>
            <a:ext cx="316992" cy="219456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333" dirty="0">
                <a:solidFill>
                  <a:srgbClr val="38B82C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6</a:t>
            </a:r>
            <a:endParaRPr lang="en-US" sz="13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2" name="Text 89"/>
          <p:cNvSpPr/>
          <p:nvPr/>
        </p:nvSpPr>
        <p:spPr>
          <a:xfrm>
            <a:off x="13655413" y="4453591"/>
            <a:ext cx="1706880" cy="24384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360" dirty="0">
                <a:solidFill>
                  <a:srgbClr val="212529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Backoffice / SAP</a:t>
            </a:r>
            <a:endParaRPr lang="en-US" sz="136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3" name="Text 90"/>
          <p:cNvSpPr/>
          <p:nvPr/>
        </p:nvSpPr>
        <p:spPr>
          <a:xfrm>
            <a:off x="13631029" y="4770583"/>
            <a:ext cx="1755648" cy="609600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ctr"/>
            <a:r>
              <a:rPr lang="en-US" sz="1013" dirty="0">
                <a:solidFill>
                  <a:srgbClr val="575757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Pedido, facturación y continuidad operacional.</a:t>
            </a:r>
            <a:endParaRPr lang="en-US" sz="101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4" name="Shape 91"/>
          <p:cNvSpPr/>
          <p:nvPr/>
        </p:nvSpPr>
        <p:spPr>
          <a:xfrm>
            <a:off x="670933" y="7099255"/>
            <a:ext cx="14935200" cy="0"/>
          </a:xfrm>
          <a:prstGeom prst="line">
            <a:avLst/>
          </a:prstGeom>
          <a:noFill/>
          <a:ln w="15240">
            <a:solidFill>
              <a:srgbClr val="DAE1EB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5" name="Text 92"/>
          <p:cNvSpPr/>
          <p:nvPr/>
        </p:nvSpPr>
        <p:spPr>
          <a:xfrm>
            <a:off x="1051804" y="7380366"/>
            <a:ext cx="2011680" cy="292608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 fontScale="85000" lnSpcReduction="10000"/>
          </a:bodyPr>
          <a:lstStyle/>
          <a:p>
            <a:r>
              <a:rPr lang="en-US" sz="1867" dirty="0">
                <a:solidFill>
                  <a:srgbClr val="236092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Resultado esperado</a:t>
            </a:r>
            <a:endParaRPr lang="en-US" sz="1867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6" name="Text 93"/>
          <p:cNvSpPr/>
          <p:nvPr/>
        </p:nvSpPr>
        <p:spPr>
          <a:xfrm>
            <a:off x="3048373" y="7379671"/>
            <a:ext cx="10850880" cy="292608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r>
              <a:rPr lang="en-US" sz="1400" dirty="0">
                <a:solidFill>
                  <a:srgbClr val="212529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Más velocidad de respuesta, mayor trazabilidad y foco humano en oportunidades con mayor probabilidad de cierre.</a:t>
            </a:r>
            <a:endParaRPr lang="en-US" sz="140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7" name="Shape 94"/>
          <p:cNvSpPr/>
          <p:nvPr/>
        </p:nvSpPr>
        <p:spPr>
          <a:xfrm>
            <a:off x="2605483" y="8001464"/>
            <a:ext cx="219456" cy="219456"/>
          </a:xfrm>
          <a:prstGeom prst="ellipse">
            <a:avLst/>
          </a:prstGeom>
          <a:solidFill>
            <a:srgbClr val="457DEB"/>
          </a:solidFill>
          <a:ln w="12700">
            <a:solidFill>
              <a:srgbClr val="457DEB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8" name="Text 95"/>
          <p:cNvSpPr/>
          <p:nvPr/>
        </p:nvSpPr>
        <p:spPr>
          <a:xfrm>
            <a:off x="2915646" y="7997953"/>
            <a:ext cx="1219200" cy="268224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r>
              <a:rPr lang="en-US" sz="1533" dirty="0">
                <a:solidFill>
                  <a:srgbClr val="212529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Velocidad</a:t>
            </a:r>
            <a:endParaRPr lang="en-US" sz="15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9" name="Text 96"/>
          <p:cNvSpPr/>
          <p:nvPr/>
        </p:nvSpPr>
        <p:spPr>
          <a:xfrm>
            <a:off x="2611726" y="8244527"/>
            <a:ext cx="2438400" cy="268224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r>
              <a:rPr lang="en-US" sz="1240" dirty="0">
                <a:solidFill>
                  <a:srgbClr val="575757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absorber peaks de campañas</a:t>
            </a:r>
            <a:endParaRPr lang="en-US" sz="124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00" name="Shape 97"/>
          <p:cNvSpPr/>
          <p:nvPr/>
        </p:nvSpPr>
        <p:spPr>
          <a:xfrm>
            <a:off x="7140010" y="7989272"/>
            <a:ext cx="219456" cy="219456"/>
          </a:xfrm>
          <a:prstGeom prst="ellipse">
            <a:avLst/>
          </a:prstGeom>
          <a:solidFill>
            <a:srgbClr val="EBA53D"/>
          </a:solidFill>
          <a:ln w="12700">
            <a:solidFill>
              <a:srgbClr val="EBA53D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01" name="Text 98"/>
          <p:cNvSpPr/>
          <p:nvPr/>
        </p:nvSpPr>
        <p:spPr>
          <a:xfrm>
            <a:off x="7442453" y="7949183"/>
            <a:ext cx="1219200" cy="268224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r>
              <a:rPr lang="en-US" sz="1533" dirty="0">
                <a:solidFill>
                  <a:srgbClr val="212529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Trazabilidad</a:t>
            </a:r>
            <a:endParaRPr lang="en-US" sz="15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02" name="Text 99"/>
          <p:cNvSpPr/>
          <p:nvPr/>
        </p:nvSpPr>
        <p:spPr>
          <a:xfrm>
            <a:off x="7219682" y="8258324"/>
            <a:ext cx="2438400" cy="268224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r>
              <a:rPr lang="en-US" sz="1240" dirty="0">
                <a:solidFill>
                  <a:srgbClr val="575757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contexto completo en CRM</a:t>
            </a:r>
            <a:endParaRPr lang="en-US" sz="124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03" name="Shape 100"/>
          <p:cNvSpPr/>
          <p:nvPr/>
        </p:nvSpPr>
        <p:spPr>
          <a:xfrm>
            <a:off x="11526284" y="7941322"/>
            <a:ext cx="219456" cy="219456"/>
          </a:xfrm>
          <a:prstGeom prst="ellipse">
            <a:avLst/>
          </a:prstGeom>
          <a:solidFill>
            <a:srgbClr val="38B82C"/>
          </a:solidFill>
          <a:ln w="12700">
            <a:solidFill>
              <a:srgbClr val="38B82C"/>
            </a:solidFill>
            <a:prstDash val="solid"/>
          </a:ln>
        </p:spPr>
        <p:txBody>
          <a:bodyPr/>
          <a:lstStyle/>
          <a:p>
            <a:endParaRPr lang="en-CL" sz="240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04" name="Text 101"/>
          <p:cNvSpPr/>
          <p:nvPr/>
        </p:nvSpPr>
        <p:spPr>
          <a:xfrm>
            <a:off x="11809249" y="7928661"/>
            <a:ext cx="1219200" cy="268224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r>
              <a:rPr lang="en-US" sz="1533" dirty="0">
                <a:solidFill>
                  <a:srgbClr val="212529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Escalabilidad</a:t>
            </a:r>
            <a:endParaRPr lang="en-US" sz="1533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05" name="Text 102"/>
          <p:cNvSpPr/>
          <p:nvPr/>
        </p:nvSpPr>
        <p:spPr>
          <a:xfrm>
            <a:off x="11517783" y="8206034"/>
            <a:ext cx="2438400" cy="268224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r>
              <a:rPr lang="en-US" sz="1240" dirty="0">
                <a:solidFill>
                  <a:srgbClr val="575757"/>
                </a:solidFill>
                <a:latin typeface="Inter" panose="020B0502030000000004" pitchFamily="34" charset="0"/>
                <a:ea typeface="Inter" panose="020B0502030000000004" pitchFamily="34" charset="0"/>
                <a:cs typeface="Aptos" pitchFamily="34" charset="-120"/>
              </a:rPr>
              <a:t>sin perder toque humano</a:t>
            </a:r>
            <a:endParaRPr lang="en-US" sz="1240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06" name="Text 103"/>
          <p:cNvSpPr/>
          <p:nvPr/>
        </p:nvSpPr>
        <p:spPr>
          <a:xfrm>
            <a:off x="609600" y="8753856"/>
            <a:ext cx="6705600" cy="195072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r>
              <a:rPr lang="en-US" sz="1000" dirty="0">
                <a:solidFill>
                  <a:srgbClr val="57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Phigital ® una empresa de Phoenix Service Chile – Confidencial - 2026</a:t>
            </a:r>
            <a:endParaRPr lang="en-US" sz="1000" dirty="0"/>
          </a:p>
        </p:txBody>
      </p:sp>
      <p:sp>
        <p:nvSpPr>
          <p:cNvPr id="107" name="Text 104"/>
          <p:cNvSpPr/>
          <p:nvPr/>
        </p:nvSpPr>
        <p:spPr>
          <a:xfrm>
            <a:off x="12862560" y="8753856"/>
            <a:ext cx="2743200" cy="195072"/>
          </a:xfrm>
          <a:prstGeom prst="rect">
            <a:avLst/>
          </a:prstGeom>
          <a:noFill/>
          <a:ln/>
        </p:spPr>
        <p:txBody>
          <a:bodyPr wrap="square" lIns="339" tIns="339" rIns="339" bIns="339" rtlCol="0" anchor="ctr">
            <a:normAutofit/>
          </a:bodyPr>
          <a:lstStyle/>
          <a:p>
            <a:pPr algn="r"/>
            <a:r>
              <a:rPr lang="en-US" sz="1000" dirty="0">
                <a:solidFill>
                  <a:srgbClr val="57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Cirumed · Modelo de Engagement</a:t>
            </a:r>
            <a:endParaRPr lang="en-US" sz="1000" dirty="0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7F6AF2B-CEE6-79AC-64C7-3507207C26C0}"/>
              </a:ext>
            </a:extLst>
          </p:cNvPr>
          <p:cNvCxnSpPr>
            <a:cxnSpLocks/>
          </p:cNvCxnSpPr>
          <p:nvPr/>
        </p:nvCxnSpPr>
        <p:spPr>
          <a:xfrm>
            <a:off x="512064" y="1767641"/>
            <a:ext cx="11262211" cy="0"/>
          </a:xfrm>
          <a:prstGeom prst="line">
            <a:avLst/>
          </a:prstGeom>
          <a:ln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F9EECF-0A3F-F47C-D8DC-E8DC0B4850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0"/>
            <a:ext cx="142272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557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0D00BB-9E88-7648-A214-84E3995EB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7374"/>
            <a:ext cx="11144250" cy="891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443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0E76BC-88E0-71D3-2286-F6753A9F9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0" y="0"/>
            <a:ext cx="11430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135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BDA7BB-7FD1-F154-F12F-39522E7B0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99" y="0"/>
            <a:ext cx="16074931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196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A6E01-C147-C127-FE6F-9159409E7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CA8A7-17C4-AAC6-4BA0-DC9A36B9B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14882" y="5704515"/>
            <a:ext cx="4242863" cy="1356763"/>
          </a:xfrm>
          <a:ln>
            <a:noFill/>
          </a:ln>
        </p:spPr>
        <p:txBody>
          <a:bodyPr anchor="b">
            <a:normAutofit fontScale="90000"/>
          </a:bodyPr>
          <a:lstStyle/>
          <a:p>
            <a:pPr algn="l"/>
            <a:r>
              <a:rPr lang="en-US" sz="8800" dirty="0">
                <a:solidFill>
                  <a:srgbClr val="1F0596"/>
                </a:solidFill>
                <a:latin typeface="Inter Medium" panose="020B0502030000000004" pitchFamily="34" charset="0"/>
                <a:ea typeface="Inter Medium" panose="020B0502030000000004" pitchFamily="34" charset="0"/>
              </a:rPr>
              <a:t>Gracias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3EFF628-9550-5DFA-FBFC-3167B1C9E5BB}"/>
                  </a:ext>
                </a:extLst>
              </p14:cNvPr>
              <p14:cNvContentPartPr/>
              <p14:nvPr/>
            </p14:nvContentPartPr>
            <p14:xfrm>
              <a:off x="2739556" y="472009"/>
              <a:ext cx="5760" cy="163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3EFF628-9550-5DFA-FBFC-3167B1C9E5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03556" y="259139"/>
                <a:ext cx="77400" cy="441704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5C65333-D8AF-D11A-10E4-FCADFB0E07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3" y="-136782"/>
            <a:ext cx="1473407" cy="20841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FA7D40-738C-C229-FFF1-8F27CBE63C2E}"/>
              </a:ext>
            </a:extLst>
          </p:cNvPr>
          <p:cNvSpPr txBox="1"/>
          <p:nvPr/>
        </p:nvSpPr>
        <p:spPr>
          <a:xfrm>
            <a:off x="11126159" y="8692596"/>
            <a:ext cx="6364323" cy="31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Phigital</a:t>
            </a:r>
            <a:r>
              <a:rPr lang="en-CL" sz="1200" dirty="0"/>
              <a:t> </a:t>
            </a:r>
            <a:r>
              <a:rPr lang="en-CL" sz="2133" baseline="-25000" dirty="0">
                <a:solidFill>
                  <a:srgbClr val="1F0596"/>
                </a:solidFill>
              </a:rPr>
              <a:t>®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una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empresa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de Phoenix Service Chile – </a:t>
            </a:r>
            <a:r>
              <a:rPr lang="en-US" sz="1200" dirty="0" err="1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Confidencial</a:t>
            </a:r>
            <a:r>
              <a:rPr lang="en-US" sz="1200" dirty="0">
                <a:solidFill>
                  <a:srgbClr val="1F0596"/>
                </a:solidFill>
                <a:latin typeface="Inter Thin BETA" panose="020B0A02050000000004" pitchFamily="34" charset="0"/>
                <a:ea typeface="Inter Thin BETA" panose="020B0A02050000000004" pitchFamily="34" charset="0"/>
              </a:rPr>
              <a:t> - 2026</a:t>
            </a:r>
            <a:endParaRPr lang="en-CL" sz="1200" dirty="0">
              <a:solidFill>
                <a:srgbClr val="1F0596"/>
              </a:solidFill>
              <a:latin typeface="Inter Thin BETA" panose="020B0A02050000000004" pitchFamily="34" charset="0"/>
              <a:ea typeface="Inter Thin BETA" panose="020B0A020500000000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442F35-4348-8F48-0F55-18D44595110C}"/>
              </a:ext>
            </a:extLst>
          </p:cNvPr>
          <p:cNvSpPr txBox="1"/>
          <p:nvPr/>
        </p:nvSpPr>
        <p:spPr>
          <a:xfrm>
            <a:off x="9611097" y="4037612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L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FBF94B-7117-06A2-5A80-C1ECF6222D6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437">
            <a:off x="-2250869" y="1634660"/>
            <a:ext cx="5442644" cy="769870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7D0A11-78FB-ACAE-8CFD-444C0C541B0D}"/>
              </a:ext>
            </a:extLst>
          </p:cNvPr>
          <p:cNvCxnSpPr/>
          <p:nvPr/>
        </p:nvCxnSpPr>
        <p:spPr>
          <a:xfrm>
            <a:off x="1" y="8481961"/>
            <a:ext cx="13555407" cy="0"/>
          </a:xfrm>
          <a:prstGeom prst="line">
            <a:avLst/>
          </a:prstGeom>
          <a:ln w="6350">
            <a:solidFill>
              <a:srgbClr val="1F0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978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1145</Words>
  <Application>Microsoft Macintosh PowerPoint</Application>
  <PresentationFormat>Custom</PresentationFormat>
  <Paragraphs>112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Aptos</vt:lpstr>
      <vt:lpstr>Arial</vt:lpstr>
      <vt:lpstr>Calibri</vt:lpstr>
      <vt:lpstr>Helvetica Light</vt:lpstr>
      <vt:lpstr>Inter</vt:lpstr>
      <vt:lpstr>Inter Light BETA</vt:lpstr>
      <vt:lpstr>Inter Medium</vt:lpstr>
      <vt:lpstr>Inter Thin BETA</vt:lpstr>
      <vt:lpstr>Office Theme</vt:lpstr>
      <vt:lpstr>PowerPoint Presentation</vt:lpstr>
      <vt:lpstr>Disclaimer</vt:lpstr>
      <vt:lpstr>Cirumed está en una etapa de ordenamiento y crecimiento de su línea estética, con el objetivo de profesionalizar la gestión comercial B2B y aumentar la captura de oportunidades.  Una parte relevante de las ventas proviene de clientes pequeños o recurrentes, pero el proceso sigue siendo altamente manual y concentrado en la atención por WhatsApp.  El flujo comercial exige cuidado por el tipo de industria: trato cercano y técnico, validación de recetas, coordinación de pagos, datos de facturación y registro posterior en HubSpot/SAP.  La necesidad central es transformar WhatsApp en un proceso comercial más rápido, inteligente, trazable y escalable, sin perder el criterio humano ni la calidad de atención.</vt:lpstr>
      <vt:lpstr>PowerPoint Presentation</vt:lpstr>
      <vt:lpstr>El desafío no es sumar más herramientas, sino convertir WhatsApp en un canal comercial inteligente.  Ya existe demanda; la oportunidad está en capturarla mejor, priorizarla antes y gestionarla con mayor trazabilidad.  La IA debe trabajar como copiloto del equipo comercial, no como reemplazo del vendedor.  Cada conversación debe transformarse en una señal de negocio: intención, urgencia, oportunidad o riesgo.  HubSpot debe recibir oportunidades calificadas, no solo contactos cargados manualmente.  El conocimiento comercial es el punto de partida para entrenar una solución útil, cercana y alineada al negocio.  Automatizar no significa deshumanizar; significa liberar tiempo humano para las conversaciones que realmente requieren criterio comercial.  El modelo debe permitir pasar de una operación reactiva por WhatsApp a una gestión comercial asistida, medible y escalable.</vt:lpstr>
      <vt:lpstr>PowerPoint Presentation</vt:lpstr>
      <vt:lpstr>PowerPoint Presentation</vt:lpstr>
      <vt:lpstr>Approach</vt:lpstr>
      <vt:lpstr>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Simon Iribarren</cp:lastModifiedBy>
  <cp:revision>14</cp:revision>
  <dcterms:created xsi:type="dcterms:W3CDTF">2006-08-16T00:00:00Z</dcterms:created>
  <dcterms:modified xsi:type="dcterms:W3CDTF">2026-05-08T17:41:00Z</dcterms:modified>
</cp:coreProperties>
</file>