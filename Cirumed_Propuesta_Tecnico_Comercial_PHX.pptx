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12700">
            <a:solidFill>
              <a:srgbClr val="E5EA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PHX / Phigital + Cirumed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11480"/>
            <a:ext cx="233172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4173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Propuesta tecnico-comercial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94360" y="1920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Plataforma de Inteligencia Comercial Conversacional + NBA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21792" y="288036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BFF"/>
                </a:solidFill>
              </a:rPr>
              <a:t>Cirumed | WhatsApp, IA, HubSpot y operacion comercial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21792" y="5806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6FF"/>
                </a:solidFill>
              </a:rPr>
              <a:t>PHX / Phigital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89520" y="914400"/>
            <a:ext cx="35661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La propuesta transforma conversaciones dispersas en oportunidades calificadas, priorizadas y listas para la accion comercial.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35240" y="2971800"/>
            <a:ext cx="34747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BFF"/>
                </a:solidFill>
              </a:rPr>
              <a:t>Base de conocimiento viva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EBFF"/>
                </a:solidFill>
              </a:rPr>
              <a:t>Motor IA + NBA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EBFF"/>
                </a:solidFill>
              </a:rPr>
              <a:t>Plataforma comercial + funcionalidades Kapso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EBFF"/>
                </a:solidFill>
              </a:rPr>
              <a:t>Integracion HubSpot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EBFF"/>
                </a:solidFill>
              </a:rPr>
              <a:t>Piloto controlado y escalamiento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Resumen ejecutivo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solucion para convertir WhatsApp en un sistema comercial inteligente, trazable y escalable.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234440"/>
            <a:ext cx="107442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62B63"/>
                </a:solidFill>
              </a:rPr>
              <a:t>El objetivo no es implementar un bot aislado, sino construir una plataforma de gestion comercial asistida por IA que ayude a Cirumed a capturar demanda, calificar oportunidades, recomendar proximas acciones y preparar cada venta con contexto operativo.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2331720"/>
            <a:ext cx="384048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70432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Capturar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16916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Centralizar mensajes, correos, historial y documentos comerciales.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3063240" y="2331720"/>
            <a:ext cx="384048" cy="38404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502152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Entender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63240" y="2834640"/>
            <a:ext cx="16916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Crear una KB viva con tono, reglas, FAQs, requisitos y objeciones.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5394960" y="2331720"/>
            <a:ext cx="384048" cy="38404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833872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Recomendar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94960" y="2834640"/>
            <a:ext cx="16916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Generar Next Best Actions para leads, seguimiento, receta y venta.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7726680" y="2331720"/>
            <a:ext cx="384048" cy="38404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165592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Operar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26680" y="2834640"/>
            <a:ext cx="16916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Gestionar inbox, leads, oportunidades, HubSpot y backoffice.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10058400" y="2331720"/>
            <a:ext cx="384048" cy="3840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497312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Medir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058400" y="2834640"/>
            <a:ext cx="16916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Reportar conversion, tiempos, motivos de caida y efectividad NBA.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731520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B63"/>
                </a:solidFill>
              </a:rPr>
              <a:t>Resultado esperado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" y="5074920"/>
            <a:ext cx="484632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020" dirty="0">
                <a:solidFill>
                  <a:srgbClr val="475569"/>
                </a:solidFill>
              </a:rPr>
              <a:t>Menor perdida de oportunidades por demora.</a:t>
            </a:r>
            <a:endParaRPr lang="en-US" sz="1020" dirty="0"/>
          </a:p>
          <a:p>
            <a:r>
              <a:rPr lang="en-US" sz="1020" dirty="0">
                <a:solidFill>
                  <a:srgbClr val="475569"/>
                </a:solidFill>
              </a:rPr>
              <a:t>Leads priorizados antes de que el ejecutivo intervenga.</a:t>
            </a:r>
            <a:endParaRPr lang="en-US" sz="1020" dirty="0"/>
          </a:p>
          <a:p>
            <a:r>
              <a:rPr lang="en-US" sz="1020" dirty="0">
                <a:solidFill>
                  <a:srgbClr val="475569"/>
                </a:solidFill>
              </a:rPr>
              <a:t>HubSpot enriquecido con contexto conversacional y tareas.</a:t>
            </a:r>
            <a:endParaRPr lang="en-US" sz="1020" dirty="0"/>
          </a:p>
          <a:p>
            <a:r>
              <a:rPr lang="en-US" sz="1020" dirty="0">
                <a:solidFill>
                  <a:srgbClr val="475569"/>
                </a:solidFill>
              </a:rPr>
              <a:t>Operaciones de receta, pago y facturacion mas trazables.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6400800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B63"/>
                </a:solidFill>
              </a:rPr>
              <a:t>Principio de diseno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46520" y="5074920"/>
            <a:ext cx="43891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62B63"/>
                </a:solidFill>
              </a:rPr>
              <a:t>Automatizar lo repetitivo, asistir lo comercialmente relevante y escalar a humano cuando el criterio, la confianza o la regulacion lo exijan.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y problema a resolver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Cirumed tiene demanda y cartera; el cuello de botella esta en capturar, priorizar y gestionar a tiempo.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417320"/>
            <a:ext cx="3154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Demanda dispersa en WhatsApp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32461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Campanas y respuestas llegan simultaneamente; las conversaciones compiten por la misma atencion.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4480560" y="1417320"/>
            <a:ext cx="3154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Criterio comercial no sistematizado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80560" y="1828800"/>
            <a:ext cx="32461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La experiencia del equipo permite cerrar, priorizar y vender mejor, pero vive en personas y conversaciones historicas.</a:t>
            </a:r>
            <a:endParaRPr lang="en-US" sz="1040" dirty="0"/>
          </a:p>
        </p:txBody>
      </p:sp>
      <p:sp>
        <p:nvSpPr>
          <p:cNvPr id="9" name="Text 6"/>
          <p:cNvSpPr/>
          <p:nvPr/>
        </p:nvSpPr>
        <p:spPr>
          <a:xfrm>
            <a:off x="8275320" y="1417320"/>
            <a:ext cx="3154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Friccion operativa post-interes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75320" y="1828800"/>
            <a:ext cx="32461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Receta, pago, facturacion, despacho y registro en sistemas consumen tiempo comercial.</a:t>
            </a:r>
            <a:endParaRPr lang="en-US" sz="1040" dirty="0"/>
          </a:p>
        </p:txBody>
      </p:sp>
      <p:sp>
        <p:nvSpPr>
          <p:cNvPr id="11" name="Text 8"/>
          <p:cNvSpPr/>
          <p:nvPr/>
        </p:nvSpPr>
        <p:spPr>
          <a:xfrm>
            <a:off x="685800" y="3337560"/>
            <a:ext cx="3154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CRM subutilizado en el origen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3749040"/>
            <a:ext cx="32461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HubSpot puede ordenar oportunidades, pero necesita recibir datos calificados desde WhatsApp.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4480560" y="3337560"/>
            <a:ext cx="3154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Riesgo de automatizacion basica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80560" y="3749040"/>
            <a:ext cx="32461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Un bot generico podria perder tono tecnico, venta consultiva y control regulatorio.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8275320" y="3337560"/>
            <a:ext cx="31546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Baja visibilidad del funnel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75320" y="3749040"/>
            <a:ext cx="32461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475569"/>
                </a:solidFill>
              </a:rPr>
              <a:t>Faltan datos sobre tiempos, caidas, conversion, motivos de perdida y aprendizaje por campana.</a:t>
            </a:r>
            <a:endParaRPr lang="en-US" sz="1040" dirty="0"/>
          </a:p>
        </p:txBody>
      </p:sp>
      <p:sp>
        <p:nvSpPr>
          <p:cNvPr id="17" name="Text 14"/>
          <p:cNvSpPr/>
          <p:nvPr/>
        </p:nvSpPr>
        <p:spPr>
          <a:xfrm>
            <a:off x="685800" y="5504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B63"/>
                </a:solidFill>
              </a:rPr>
              <a:t>Tesis de la propuesta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971800" y="5468112"/>
            <a:ext cx="8046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2B63"/>
                </a:solidFill>
              </a:rPr>
              <a:t>No falta demanda: falta una capa de inteligencia que convierta conversaciones en oportunidades accionables, trazables y listas para gestionar.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 de solucion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conversaciones dispersas a una operacion comercial guiada por Next Best Actions.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B63"/>
                </a:solidFill>
              </a:rPr>
              <a:t>Fuentes de conocimiento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21031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950" dirty="0">
                <a:solidFill>
                  <a:srgbClr val="475569"/>
                </a:solidFill>
              </a:rPr>
              <a:t>Correos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WhatsApp historico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Documentos y FAQs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Entrevistas transcritas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HubSpot y backoffice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063240" y="2240280"/>
            <a:ext cx="502920" cy="457200"/>
          </a:xfrm>
          <a:prstGeom prst="chevron">
            <a:avLst/>
          </a:prstGeom>
          <a:solidFill>
            <a:srgbClr val="E5EAF3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Base de conocimiento viva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28800"/>
            <a:ext cx="21031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950" dirty="0">
                <a:solidFill>
                  <a:srgbClr val="475569"/>
                </a:solidFill>
              </a:rPr>
              <a:t>RAG + embeddings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Reglas comerciales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Tono Cirumed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FAQs y objeciones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Requisitos regulatorios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2240280"/>
            <a:ext cx="502920" cy="457200"/>
          </a:xfrm>
          <a:prstGeom prst="chevron">
            <a:avLst/>
          </a:prstGeom>
          <a:solidFill>
            <a:srgbClr val="E5EAF3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1228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Motor IA + NBA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03720" y="1828800"/>
            <a:ext cx="21031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950" dirty="0">
                <a:solidFill>
                  <a:srgbClr val="475569"/>
                </a:solidFill>
              </a:rPr>
              <a:t>Analisis semantico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Lead scoring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Priorizacion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Alertas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Recomendacion de accion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098280" y="2240280"/>
            <a:ext cx="502920" cy="457200"/>
          </a:xfrm>
          <a:prstGeom prst="chevron">
            <a:avLst/>
          </a:prstGeom>
          <a:solidFill>
            <a:srgbClr val="E5EAF3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3836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</a:rPr>
              <a:t>Plataforma + HubSpot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29800" y="1828800"/>
            <a:ext cx="196596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950" dirty="0">
                <a:solidFill>
                  <a:srgbClr val="475569"/>
                </a:solidFill>
              </a:rPr>
              <a:t>Inbox inteligente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Gestion de leads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Deals y tareas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Cotizacion asistida</a:t>
            </a:r>
            <a:endParaRPr lang="en-US" sz="950" dirty="0"/>
          </a:p>
          <a:p>
            <a:r>
              <a:rPr lang="en-US" sz="950" dirty="0">
                <a:solidFill>
                  <a:srgbClr val="475569"/>
                </a:solidFill>
              </a:rPr>
              <a:t>Escalamiento humano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5800" y="4754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B63"/>
                </a:solidFill>
              </a:rPr>
              <a:t>Promesa operativa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5166360"/>
            <a:ext cx="105156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62B63"/>
                </a:solidFill>
              </a:rPr>
              <a:t>La solucion interpreta cada mensaje, determina la siguiente mejor accion y prepara la oportunidad para que el equipo comercial actue con mas velocidad, contexto y trazabilidad.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Arquitectura objetivo de la solucion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modular: fuentes, conocimiento, inteligencia, plataforma, CRM, ejecucion y aprendizaje.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207008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D4ED8"/>
                </a:solidFill>
              </a:rPr>
              <a:t>1. Fuentes de conocimiento</a:t>
            </a:r>
            <a:endParaRPr lang="en-US" sz="1070" dirty="0"/>
          </a:p>
        </p:txBody>
      </p:sp>
      <p:sp>
        <p:nvSpPr>
          <p:cNvPr id="6" name="Text 3"/>
          <p:cNvSpPr/>
          <p:nvPr/>
        </p:nvSpPr>
        <p:spPr>
          <a:xfrm>
            <a:off x="2926080" y="1207008"/>
            <a:ext cx="7680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Correos | WhatsApp historico | Documentos | Entrevistas | HubSpot | Backoffice</a:t>
            </a:r>
            <a:endParaRPr lang="en-US" sz="870" dirty="0"/>
          </a:p>
        </p:txBody>
      </p:sp>
      <p:sp>
        <p:nvSpPr>
          <p:cNvPr id="7" name="Shape 4"/>
          <p:cNvSpPr/>
          <p:nvPr/>
        </p:nvSpPr>
        <p:spPr>
          <a:xfrm>
            <a:off x="5577840" y="1508760"/>
            <a:ext cx="201168" cy="14630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719072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F766E"/>
                </a:solidFill>
              </a:rPr>
              <a:t>2. Ingesta y procesamiento</a:t>
            </a:r>
            <a:endParaRPr lang="en-US" sz="1070" dirty="0"/>
          </a:p>
        </p:txBody>
      </p:sp>
      <p:sp>
        <p:nvSpPr>
          <p:cNvPr id="9" name="Text 6"/>
          <p:cNvSpPr/>
          <p:nvPr/>
        </p:nvSpPr>
        <p:spPr>
          <a:xfrm>
            <a:off x="2926080" y="1719072"/>
            <a:ext cx="7680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Extraccion | Limpieza | Normalizacion | Transcripcion | Clasificacion | Etiquetado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5577840" y="2020824"/>
            <a:ext cx="201168" cy="14630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231136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6A34A"/>
                </a:solidFill>
              </a:rPr>
              <a:t>3. Base de conocimiento viva</a:t>
            </a:r>
            <a:endParaRPr lang="en-US" sz="1070" dirty="0"/>
          </a:p>
        </p:txBody>
      </p:sp>
      <p:sp>
        <p:nvSpPr>
          <p:cNvPr id="12" name="Text 9"/>
          <p:cNvSpPr/>
          <p:nvPr/>
        </p:nvSpPr>
        <p:spPr>
          <a:xfrm>
            <a:off x="2926080" y="2231136"/>
            <a:ext cx="7680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RAG | Embeddings | Reglas comerciales | Tono Cirumed | FAQs | Objeciones | Requisitos</a:t>
            </a:r>
            <a:endParaRPr lang="en-US" sz="870" dirty="0"/>
          </a:p>
        </p:txBody>
      </p:sp>
      <p:sp>
        <p:nvSpPr>
          <p:cNvPr id="13" name="Shape 10"/>
          <p:cNvSpPr/>
          <p:nvPr/>
        </p:nvSpPr>
        <p:spPr>
          <a:xfrm>
            <a:off x="5577840" y="2532888"/>
            <a:ext cx="201168" cy="14630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743200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6D28D9"/>
                </a:solidFill>
              </a:rPr>
              <a:t>4. Base operativa</a:t>
            </a:r>
            <a:endParaRPr lang="en-US" sz="1070" dirty="0"/>
          </a:p>
        </p:txBody>
      </p:sp>
      <p:sp>
        <p:nvSpPr>
          <p:cNvPr id="15" name="Text 12"/>
          <p:cNvSpPr/>
          <p:nvPr/>
        </p:nvSpPr>
        <p:spPr>
          <a:xfrm>
            <a:off x="2926080" y="2743200"/>
            <a:ext cx="7680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Conversaciones | Leads | Oportunidades | Requisitos | Tareas | NBA | Logs | Metricas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5577840" y="3044952"/>
            <a:ext cx="201168" cy="14630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255264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D4ED8"/>
                </a:solidFill>
              </a:rPr>
              <a:t>5. Motor IA</a:t>
            </a:r>
            <a:endParaRPr lang="en-US" sz="1070" dirty="0"/>
          </a:p>
        </p:txBody>
      </p:sp>
      <p:sp>
        <p:nvSpPr>
          <p:cNvPr id="18" name="Text 15"/>
          <p:cNvSpPr/>
          <p:nvPr/>
        </p:nvSpPr>
        <p:spPr>
          <a:xfrm>
            <a:off x="2926080" y="3255264"/>
            <a:ext cx="7680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Analisis semantico | Intencion | Urgencia | Entidades | Resumen | Riesgo | Sentimiento</a:t>
            </a:r>
            <a:endParaRPr lang="en-US" sz="870" dirty="0"/>
          </a:p>
        </p:txBody>
      </p:sp>
      <p:sp>
        <p:nvSpPr>
          <p:cNvPr id="19" name="Shape 16"/>
          <p:cNvSpPr/>
          <p:nvPr/>
        </p:nvSpPr>
        <p:spPr>
          <a:xfrm>
            <a:off x="5577840" y="3557016"/>
            <a:ext cx="201168" cy="14630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767328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97316"/>
                </a:solidFill>
              </a:rPr>
              <a:t>6. Orquestador NBA</a:t>
            </a:r>
            <a:endParaRPr lang="en-US" sz="1070" dirty="0"/>
          </a:p>
        </p:txBody>
      </p:sp>
      <p:sp>
        <p:nvSpPr>
          <p:cNvPr id="21" name="Text 18"/>
          <p:cNvSpPr/>
          <p:nvPr/>
        </p:nvSpPr>
        <p:spPr>
          <a:xfrm>
            <a:off x="2926080" y="3767328"/>
            <a:ext cx="7680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Lead scoring | Priorizacion | Recomendaciones | Alertas | Derivacion | Automatizacion</a:t>
            </a:r>
            <a:endParaRPr lang="en-US" sz="870" dirty="0"/>
          </a:p>
        </p:txBody>
      </p:sp>
      <p:sp>
        <p:nvSpPr>
          <p:cNvPr id="22" name="Shape 19"/>
          <p:cNvSpPr/>
          <p:nvPr/>
        </p:nvSpPr>
        <p:spPr>
          <a:xfrm>
            <a:off x="5577840" y="4069080"/>
            <a:ext cx="201168" cy="14630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6D28D9"/>
                </a:solidFill>
              </a:rPr>
              <a:t>7. Plataforma comercial + Kapso</a:t>
            </a:r>
            <a:endParaRPr lang="en-US" sz="1070" dirty="0"/>
          </a:p>
        </p:txBody>
      </p:sp>
      <p:sp>
        <p:nvSpPr>
          <p:cNvPr id="24" name="Text 21"/>
          <p:cNvSpPr/>
          <p:nvPr/>
        </p:nvSpPr>
        <p:spPr>
          <a:xfrm>
            <a:off x="2926080" y="4279392"/>
            <a:ext cx="7680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Inbox inteligente | Panel NBA | Leads | Pipeline | Dashboards | Alertas | Integraciones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5577840" y="4581144"/>
            <a:ext cx="201168" cy="14630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4791456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DC2626"/>
                </a:solidFill>
              </a:rPr>
              <a:t>8. HubSpot + venta/backoffice</a:t>
            </a:r>
            <a:endParaRPr lang="en-US" sz="1070" dirty="0"/>
          </a:p>
        </p:txBody>
      </p:sp>
      <p:sp>
        <p:nvSpPr>
          <p:cNvPr id="27" name="Text 24"/>
          <p:cNvSpPr/>
          <p:nvPr/>
        </p:nvSpPr>
        <p:spPr>
          <a:xfrm>
            <a:off x="2926080" y="4791456"/>
            <a:ext cx="7680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Contactos | Empresas | Deals | Tareas | Notas | Cotizacion | Receta | Pago | Facturacion | Despacho</a:t>
            </a:r>
            <a:endParaRPr lang="en-US" sz="870" dirty="0"/>
          </a:p>
        </p:txBody>
      </p:sp>
      <p:sp>
        <p:nvSpPr>
          <p:cNvPr id="28" name="Shape 25"/>
          <p:cNvSpPr/>
          <p:nvPr/>
        </p:nvSpPr>
        <p:spPr>
          <a:xfrm>
            <a:off x="5577840" y="5093208"/>
            <a:ext cx="201168" cy="146304"/>
          </a:xfrm>
          <a:prstGeom prst="down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1520" y="5303520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16A34A"/>
                </a:solidFill>
              </a:rPr>
              <a:t>9. Aprendizaje supervisado</a:t>
            </a:r>
            <a:endParaRPr lang="en-US" sz="1070" dirty="0"/>
          </a:p>
        </p:txBody>
      </p:sp>
      <p:sp>
        <p:nvSpPr>
          <p:cNvPr id="30" name="Text 27"/>
          <p:cNvSpPr/>
          <p:nvPr/>
        </p:nvSpPr>
        <p:spPr>
          <a:xfrm>
            <a:off x="2926080" y="5303520"/>
            <a:ext cx="7680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Feedback humano | Resultados comerciales | Ajustes de reglas | Actualizacion KB | Mejora continua</a:t>
            </a:r>
            <a:endParaRPr lang="en-US" sz="870" dirty="0"/>
          </a:p>
        </p:txBody>
      </p:sp>
      <p:sp>
        <p:nvSpPr>
          <p:cNvPr id="31" name="Text 28"/>
          <p:cNvSpPr/>
          <p:nvPr/>
        </p:nvSpPr>
        <p:spPr>
          <a:xfrm>
            <a:off x="777240" y="5852160"/>
            <a:ext cx="9966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2B63"/>
                </a:solidFill>
              </a:rPr>
              <a:t>La arquitectura separa conocimiento, datos operativos, decision IA y ejecucion comercial. Esto permite escalar sin perder control, trazabilidad ni criterio humano.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conocimiento viva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conocimiento comercial de Cirumed se convierte en un activo entrenable, gobernado y reutilizable.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353312"/>
            <a:ext cx="429768" cy="42976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97864" y="13807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Ingesta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880360" y="1371600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Correos, WhatsApp historico, documentos, entrevistas, HubSpot y backoffice.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194560"/>
            <a:ext cx="429768" cy="42976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97864" y="22219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Procesamiento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880360" y="22128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Extraccion, limpieza, normalizacion, transcripcion, clasificacion y etiquetado.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3035808"/>
            <a:ext cx="429768" cy="42976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197864" y="30632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</a:rPr>
              <a:t>RAG + embeddings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880360" y="3054096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Busqueda semantica para recuperar conocimiento relevante antes de responder.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3877056"/>
            <a:ext cx="429768" cy="42976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197864" y="39044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Reglas y guardrails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880360" y="3895344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Tono Cirumed, limites regulatorios, derivacion humana y criterios de respuesta.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" y="4718304"/>
            <a:ext cx="429768" cy="42976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197864" y="474573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Aprendizaje supervisado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880360" y="473659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Feedback humano, resultados comerciales y actualizacion controlada de reglas y KB.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5669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B63"/>
                </a:solidFill>
              </a:rPr>
              <a:t>Punto clave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240280" y="5632704"/>
            <a:ext cx="8412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62B63"/>
                </a:solidFill>
              </a:rPr>
              <a:t>El sistema no debe aprender sin control: cada mejora debe pasar por validacion, versionamiento y trazabilidad de fuente.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Motor IA + Orquestador NBA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no solo responde: recomienda la siguiente mejor accion para avanzar la oportunidad.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El motor IA interpreta la conversacion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301752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Intencion de compra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Producto y cantidad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Urgencia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Requisitos pendientes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Riesgo de perdida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Sentimiento y tono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26280" y="1325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El orquestador NBA decide que hacer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26280" y="1783080"/>
            <a:ext cx="301752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Calificar lead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Priorizar atencion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Sugerir respuesta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Solicitar receta o datos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Crear tarea o deal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Escalar a humano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0" y="1325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La plataforma ejecuta y mide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83880" y="1783080"/>
            <a:ext cx="256032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Inbox inteligente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Panel NBA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Notificaciones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HubSpot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Backoffice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Reportes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B63"/>
                </a:solidFill>
              </a:rPr>
              <a:t>Ejemplos de Next Best Actions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572000"/>
            <a:ext cx="4389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Cliente pregunta por stock y precio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5577840" y="4572000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062B63"/>
                </a:solidFill>
              </a:rPr>
              <a:t>Responder disponibilidad y solicitar datos minimos</a:t>
            </a:r>
            <a:endParaRPr lang="en-US" sz="870" dirty="0"/>
          </a:p>
        </p:txBody>
      </p:sp>
      <p:sp>
        <p:nvSpPr>
          <p:cNvPr id="14" name="Text 11"/>
          <p:cNvSpPr/>
          <p:nvPr/>
        </p:nvSpPr>
        <p:spPr>
          <a:xfrm>
            <a:off x="822960" y="4882896"/>
            <a:ext cx="4389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Cliente recurrente consulta Meditoxin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5577840" y="4882896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062B63"/>
                </a:solidFill>
              </a:rPr>
              <a:t>Priorizar recompra y verificar receta</a:t>
            </a:r>
            <a:endParaRPr lang="en-US" sz="870" dirty="0"/>
          </a:p>
        </p:txBody>
      </p:sp>
      <p:sp>
        <p:nvSpPr>
          <p:cNvPr id="16" name="Text 13"/>
          <p:cNvSpPr/>
          <p:nvPr/>
        </p:nvSpPr>
        <p:spPr>
          <a:xfrm>
            <a:off x="822960" y="5193792"/>
            <a:ext cx="4389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Conversacion sin respuesta</a:t>
            </a:r>
            <a:endParaRPr lang="en-US" sz="870" dirty="0"/>
          </a:p>
        </p:txBody>
      </p:sp>
      <p:sp>
        <p:nvSpPr>
          <p:cNvPr id="17" name="Text 14"/>
          <p:cNvSpPr/>
          <p:nvPr/>
        </p:nvSpPr>
        <p:spPr>
          <a:xfrm>
            <a:off x="5577840" y="5193792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062B63"/>
                </a:solidFill>
              </a:rPr>
              <a:t>Alertar al ejecutivo antes de que se enfrie</a:t>
            </a:r>
            <a:endParaRPr lang="en-US" sz="870" dirty="0"/>
          </a:p>
        </p:txBody>
      </p:sp>
      <p:sp>
        <p:nvSpPr>
          <p:cNvPr id="18" name="Text 15"/>
          <p:cNvSpPr/>
          <p:nvPr/>
        </p:nvSpPr>
        <p:spPr>
          <a:xfrm>
            <a:off x="822960" y="5504688"/>
            <a:ext cx="4389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Pago recibido</a:t>
            </a:r>
            <a:endParaRPr lang="en-US" sz="870" dirty="0"/>
          </a:p>
        </p:txBody>
      </p:sp>
      <p:sp>
        <p:nvSpPr>
          <p:cNvPr id="19" name="Text 16"/>
          <p:cNvSpPr/>
          <p:nvPr/>
        </p:nvSpPr>
        <p:spPr>
          <a:xfrm>
            <a:off x="5577840" y="5504688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062B63"/>
                </a:solidFill>
              </a:rPr>
              <a:t>Derivar a backoffice y actualizar estado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822960" y="5815584"/>
            <a:ext cx="43891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475569"/>
                </a:solidFill>
              </a:rPr>
              <a:t>Lead calificado</a:t>
            </a:r>
            <a:endParaRPr lang="en-US" sz="870" dirty="0"/>
          </a:p>
        </p:txBody>
      </p:sp>
      <p:sp>
        <p:nvSpPr>
          <p:cNvPr id="21" name="Text 18"/>
          <p:cNvSpPr/>
          <p:nvPr/>
        </p:nvSpPr>
        <p:spPr>
          <a:xfrm>
            <a:off x="5577840" y="5815584"/>
            <a:ext cx="5303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062B63"/>
                </a:solidFill>
              </a:rPr>
              <a:t>Crear oportunidad en HubSpot con resumen IA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Plataforma Comercial + funcionalidades Kapso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Kapso se incorpora como servicio habilitador: no reemplaza a HubSpot ni es la solucion completa.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25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B63"/>
                </a:solidFill>
              </a:rPr>
              <a:t>Rol de la plataforma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1783080"/>
            <a:ext cx="41148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2B63"/>
                </a:solidFill>
              </a:rPr>
              <a:t>Es el espacio operativo donde el equipo gestiona conversaciones, leads, oportunidades, requisitos, acciones recomendadas, alertas y seguimiento.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0" y="1325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Funcionalidades Kapso a incorporar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15000" y="1783080"/>
            <a:ext cx="411480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Gestion de mensajes y leads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Automatizaciones y cambios de estado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Dashboards, alertas y reportes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Roles, permisos, logs y auditoria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Integraciones operativas y notificaciones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2103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D4ED8"/>
                </a:solidFill>
              </a:rPr>
              <a:t>Inbox inteligente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777240" y="4315968"/>
            <a:ext cx="2148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Conversaciones priorizadas, resumen y contexto.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3566160" y="3977640"/>
            <a:ext cx="2103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97316"/>
                </a:solidFill>
              </a:rPr>
              <a:t>Panel NBA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3566160" y="4315968"/>
            <a:ext cx="2148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Accion sugerida, motivo y score.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6355080" y="3977640"/>
            <a:ext cx="2103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766E"/>
                </a:solidFill>
              </a:rPr>
              <a:t>Pipeline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6355080" y="4315968"/>
            <a:ext cx="2148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Etapas y requisitos del proceso comercial.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9144000" y="3977640"/>
            <a:ext cx="2103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6A34A"/>
                </a:solidFill>
              </a:rPr>
              <a:t>Analytics</a:t>
            </a:r>
            <a:endParaRPr lang="en-US" sz="1220" dirty="0"/>
          </a:p>
        </p:txBody>
      </p:sp>
      <p:sp>
        <p:nvSpPr>
          <p:cNvPr id="16" name="Text 13"/>
          <p:cNvSpPr/>
          <p:nvPr/>
        </p:nvSpPr>
        <p:spPr>
          <a:xfrm>
            <a:off x="9144000" y="4315968"/>
            <a:ext cx="2148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75569"/>
                </a:solidFill>
              </a:rPr>
              <a:t>Funnel, campanas, tiempos y conversion.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822960" y="5559552"/>
            <a:ext cx="102412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062B63"/>
                </a:solidFill>
              </a:rPr>
              <a:t>Posicionamiento comercial: Kapso actua como base funcional de gestion, automatizacion y reportería; Phigital construye sobre esa base la inteligencia especifica de Cirumed.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Integracion con HubSpot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HubSpot queda como CRM oficial; la plataforma envia oportunidades enriquecidas por IA.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Desde plataforma hacia HubSpot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1828800"/>
            <a:ext cx="420624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040" dirty="0">
                <a:solidFill>
                  <a:srgbClr val="475569"/>
                </a:solidFill>
              </a:rPr>
              <a:t>Contactos nuevos o actualizados</a:t>
            </a:r>
            <a:endParaRPr lang="en-US" sz="1040" dirty="0"/>
          </a:p>
          <a:p>
            <a:r>
              <a:rPr lang="en-US" sz="1040" dirty="0">
                <a:solidFill>
                  <a:srgbClr val="475569"/>
                </a:solidFill>
              </a:rPr>
              <a:t>Empresas / clinicas asociadas</a:t>
            </a:r>
            <a:endParaRPr lang="en-US" sz="1040" dirty="0"/>
          </a:p>
          <a:p>
            <a:r>
              <a:rPr lang="en-US" sz="1040" dirty="0">
                <a:solidFill>
                  <a:srgbClr val="475569"/>
                </a:solidFill>
              </a:rPr>
              <a:t>Deals u oportunidades calificadas</a:t>
            </a:r>
            <a:endParaRPr lang="en-US" sz="1040" dirty="0"/>
          </a:p>
          <a:p>
            <a:r>
              <a:rPr lang="en-US" sz="1040" dirty="0">
                <a:solidFill>
                  <a:srgbClr val="475569"/>
                </a:solidFill>
              </a:rPr>
              <a:t>Tareas y notas con resumen IA</a:t>
            </a:r>
            <a:endParaRPr lang="en-US" sz="1040" dirty="0"/>
          </a:p>
          <a:p>
            <a:r>
              <a:rPr lang="en-US" sz="1040" dirty="0">
                <a:solidFill>
                  <a:srgbClr val="475569"/>
                </a:solidFill>
              </a:rPr>
              <a:t>Propiedades: score, intencion, urgencia, receta, pago, facturacion</a:t>
            </a:r>
            <a:endParaRPr lang="en-US" sz="1040" dirty="0"/>
          </a:p>
        </p:txBody>
      </p:sp>
      <p:sp>
        <p:nvSpPr>
          <p:cNvPr id="7" name="Text 4"/>
          <p:cNvSpPr/>
          <p:nvPr/>
        </p:nvSpPr>
        <p:spPr>
          <a:xfrm>
            <a:off x="6400800" y="1371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Desde HubSpot hacia plataforma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92240" y="1828800"/>
            <a:ext cx="420624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040" dirty="0">
                <a:solidFill>
                  <a:srgbClr val="475569"/>
                </a:solidFill>
              </a:rPr>
              <a:t>Historial del cliente</a:t>
            </a:r>
            <a:endParaRPr lang="en-US" sz="1040" dirty="0"/>
          </a:p>
          <a:p>
            <a:r>
              <a:rPr lang="en-US" sz="1040" dirty="0">
                <a:solidFill>
                  <a:srgbClr val="475569"/>
                </a:solidFill>
              </a:rPr>
              <a:t>Oportunidades abiertas</a:t>
            </a:r>
            <a:endParaRPr lang="en-US" sz="1040" dirty="0"/>
          </a:p>
          <a:p>
            <a:r>
              <a:rPr lang="en-US" sz="1040" dirty="0">
                <a:solidFill>
                  <a:srgbClr val="475569"/>
                </a:solidFill>
              </a:rPr>
              <a:t>Owner o ejecutivo asignado</a:t>
            </a:r>
            <a:endParaRPr lang="en-US" sz="1040" dirty="0"/>
          </a:p>
          <a:p>
            <a:r>
              <a:rPr lang="en-US" sz="1040" dirty="0">
                <a:solidFill>
                  <a:srgbClr val="475569"/>
                </a:solidFill>
              </a:rPr>
              <a:t>Etapa del pipeline</a:t>
            </a:r>
            <a:endParaRPr lang="en-US" sz="1040" dirty="0"/>
          </a:p>
          <a:p>
            <a:r>
              <a:rPr lang="en-US" sz="1040" dirty="0">
                <a:solidFill>
                  <a:srgbClr val="475569"/>
                </a:solidFill>
              </a:rPr>
              <a:t>Ultima actividad y contexto comercial</a:t>
            </a:r>
            <a:endParaRPr lang="en-US" sz="1040" dirty="0"/>
          </a:p>
        </p:txBody>
      </p:sp>
      <p:sp>
        <p:nvSpPr>
          <p:cNvPr id="9" name="Shape 6"/>
          <p:cNvSpPr/>
          <p:nvPr/>
        </p:nvSpPr>
        <p:spPr>
          <a:xfrm>
            <a:off x="5166360" y="2148840"/>
            <a:ext cx="914400" cy="384048"/>
          </a:xfrm>
          <a:prstGeom prst="rightArrow">
            <a:avLst/>
          </a:prstGeom>
          <a:solidFill>
            <a:srgbClr val="E5EAF3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66360" y="2743200"/>
            <a:ext cx="914400" cy="384048"/>
          </a:xfrm>
          <a:prstGeom prst="leftArrow">
            <a:avLst/>
          </a:prstGeom>
          <a:solidFill>
            <a:srgbClr val="E5EAF3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434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B63"/>
                </a:solidFill>
              </a:rPr>
              <a:t>Criterios de sincronizacion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892040"/>
            <a:ext cx="101498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62B63"/>
                </a:solidFill>
              </a:rPr>
              <a:t>No toda conversacion debe crear un deal. La integracion debe definir umbrales: crear contacto, actualizar contacto, crear oportunidad, registrar nota, crear tarea o no sincronizar.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operativo de punta a punta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 mensaje entrante hasta cierre, con automatizacion controlada y escalamiento humano.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1. Entra conversacion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85800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WhatsApp o campana</a:t>
            </a:r>
            <a:endParaRPr lang="en-US" sz="980" dirty="0"/>
          </a:p>
        </p:txBody>
      </p:sp>
      <p:sp>
        <p:nvSpPr>
          <p:cNvPr id="7" name="Shape 4"/>
          <p:cNvSpPr/>
          <p:nvPr/>
        </p:nvSpPr>
        <p:spPr>
          <a:xfrm>
            <a:off x="2926080" y="1737360"/>
            <a:ext cx="292608" cy="320040"/>
          </a:xfrm>
          <a:prstGeom prst="chevron">
            <a:avLst/>
          </a:prstGeom>
          <a:solidFill>
            <a:srgbClr val="E5EAF3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2. IA interpreta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474720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Intencion, urgencia, producto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5715000" y="1737360"/>
            <a:ext cx="292608" cy="320040"/>
          </a:xfrm>
          <a:prstGeom prst="chevron">
            <a:avLst/>
          </a:prstGeom>
          <a:solidFill>
            <a:srgbClr val="E5EAF3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</a:rPr>
              <a:t>3. NBA recomienda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263640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Accion, alerta o derivacion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8503920" y="1737360"/>
            <a:ext cx="292608" cy="320040"/>
          </a:xfrm>
          <a:prstGeom prst="chevron">
            <a:avLst/>
          </a:prstGeom>
          <a:solidFill>
            <a:srgbClr val="E5EAF3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256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4. Plataforma gestiona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052560" y="1801368"/>
            <a:ext cx="2148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Lead, requisito, tarea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8580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5. HubSpot registra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5800" y="3858768"/>
            <a:ext cx="2148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Contacto, deal, nota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2926080" y="3794760"/>
            <a:ext cx="292608" cy="320040"/>
          </a:xfrm>
          <a:prstGeom prst="chevron">
            <a:avLst/>
          </a:prstGeom>
          <a:solidFill>
            <a:srgbClr val="E5EAF3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6. Venta avanza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474720" y="3858768"/>
            <a:ext cx="2148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Cotizacion, receta, pago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5715000" y="3794760"/>
            <a:ext cx="292608" cy="320040"/>
          </a:xfrm>
          <a:prstGeom prst="chevron">
            <a:avLst/>
          </a:prstGeom>
          <a:solidFill>
            <a:srgbClr val="E5EAF3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</a:rPr>
              <a:t>7. Backoffice ejecuta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263640" y="3858768"/>
            <a:ext cx="2148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Factura, despacho, postventa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8503920" y="3794760"/>
            <a:ext cx="292608" cy="320040"/>
          </a:xfrm>
          <a:prstGeom prst="chevron">
            <a:avLst/>
          </a:prstGeom>
          <a:solidFill>
            <a:srgbClr val="E5EAF3"/>
          </a:solidFill>
          <a:ln w="12700">
            <a:solidFill>
              <a:srgbClr val="E5EA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5256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8. Aprende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052560" y="3858768"/>
            <a:ext cx="2148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Feedback y mejora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777240" y="57150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</a:rPr>
              <a:t>Escalamiento humano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2834640" y="5669280"/>
            <a:ext cx="82296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062B63"/>
                </a:solidFill>
              </a:rPr>
              <a:t>Casos de alto valor, baja confianza, reclamos, negociacion, validacion regulatoria, receta compleja o venta consultiva se derivan al equipo.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Roll-out propuesto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semanas para pasar desde setup y conocimiento a piloto, insights y roadmap de escalamiento.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pic>
        <p:nvPicPr>
          <p:cNvPr id="5" name="Image 1" descr="/mnt/data/Screenshot 2026-05-13 at 14.22.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705" y="1234440"/>
            <a:ext cx="5359549" cy="10058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2651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Semana 1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685800" y="2889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Setup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8580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Alinear objetivos, alcance, stakeholders, sistemas y fuentes.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434840" y="2651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Semana 3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434840" y="2889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2B63"/>
                </a:solidFill>
              </a:rPr>
              <a:t>Knowledge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43484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Estructurar conversaciones, documentos, FAQs, tono y criterios comerciales.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8183880" y="2651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Semana 6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8183880" y="28895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Definition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183880" y="3246120"/>
            <a:ext cx="2926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Definir blueprint, scoring, NBA, automatizacion y escalamiento.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685800" y="3931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Semana 9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85800" y="4169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Design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85800" y="4526280"/>
            <a:ext cx="2926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Diseñar plataforma, flujos, mensajes, HubSpot y backlog tecnico.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434840" y="3931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Semana 12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434840" y="4169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Launch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434840" y="4526280"/>
            <a:ext cx="2926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Activar piloto controlado, medir uso, ajustar reglas y capacitar.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8183880" y="3931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Semana 15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8183880" y="41696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Insights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8183880" y="4526280"/>
            <a:ext cx="2926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Medir impacto, optimizar modelo y definir escalamiento.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Actividades y entregables por etapa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etapa deja artefactos fisicos, verificables y reutilizables en la operacion.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325880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</a:rPr>
              <a:t>Setup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057400" y="1325880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Project charter, plan de trabajo, mapa de stakeholders, inventario de sistemas y checklist de insumos.</a:t>
            </a:r>
            <a:endParaRPr lang="en-US" sz="920" dirty="0"/>
          </a:p>
        </p:txBody>
      </p:sp>
      <p:sp>
        <p:nvSpPr>
          <p:cNvPr id="7" name="Text 4"/>
          <p:cNvSpPr/>
          <p:nvPr/>
        </p:nvSpPr>
        <p:spPr>
          <a:xfrm>
            <a:off x="685800" y="2039112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2B63"/>
                </a:solidFill>
              </a:rPr>
              <a:t>Knowledge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057400" y="2039112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Repositorio de conversaciones, taxonomia, mapa de intencion, KB inicial, matriz de objeciones y guia de tono.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85800" y="2752344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Definition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057400" y="2752344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Solution blueprint, modelo de lead scoring, matriz automatizar/asistir/derivar, funnel y criterios HubSpot.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685800" y="3465576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</a:rPr>
              <a:t>Design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057400" y="3465576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Prototipo, flujos conversacionales, biblioteca de mensajes, pipeline HubSpot, backlog y criterios de piloto.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685800" y="4178808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Launch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057400" y="4178808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Piloto activo, configuraciones, tablero operativo, manual de uso, registro de incidencias y reporte de desempeno.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685800" y="4892040"/>
            <a:ext cx="1234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</a:rPr>
              <a:t>Insights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057400" y="4892040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75569"/>
                </a:solidFill>
              </a:rPr>
              <a:t>Informe final, dashboard, analisis de impacto, reglas ajustadas, roadmap, backlog fase 2 y business case preliminar.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Recursos necesarios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viabilidad depende de combinar equipo, datos, servicios cloud, WhatsApp API, HubSpot y funcionalidades Kapso.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325880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</a:rPr>
              <a:t>Equipo PHX / Phigital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22402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880" dirty="0">
                <a:solidFill>
                  <a:srgbClr val="475569"/>
                </a:solidFill>
              </a:rPr>
              <a:t>PM/Product Owner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Arquitecto IA/Solucion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AI Engineer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Backend + Frontend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HubSpot specialist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UX/UI + QA + DevOps</a:t>
            </a:r>
            <a:endParaRPr lang="en-US" sz="880" dirty="0"/>
          </a:p>
        </p:txBody>
      </p:sp>
      <p:sp>
        <p:nvSpPr>
          <p:cNvPr id="7" name="Text 4"/>
          <p:cNvSpPr/>
          <p:nvPr/>
        </p:nvSpPr>
        <p:spPr>
          <a:xfrm>
            <a:off x="3520440" y="1325880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Equipo Cirumed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566160" y="1737360"/>
            <a:ext cx="22402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880" dirty="0">
                <a:solidFill>
                  <a:srgbClr val="475569"/>
                </a:solidFill>
              </a:rPr>
              <a:t>Sponsor ejecutivo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Lider comercial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Gonzalo / experto comercial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Backoffice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Admin HubSpot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TI / seguridad / compliance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6355080" y="1325880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</a:rPr>
              <a:t>Datos y contenido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0" y="1737360"/>
            <a:ext cx="22402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880" dirty="0">
                <a:solidFill>
                  <a:srgbClr val="475569"/>
                </a:solidFill>
              </a:rPr>
              <a:t>WhatsApp historico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Correos y documentos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FAQs, precios, productos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Reglas de receta y venta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Entrevistas transcritas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Historial HubSpot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9189720" y="1325880"/>
            <a:ext cx="2286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</a:rPr>
              <a:t>Servicios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235440" y="1737360"/>
            <a:ext cx="2240280" cy="2148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880" dirty="0">
                <a:solidFill>
                  <a:srgbClr val="475569"/>
                </a:solidFill>
              </a:rPr>
              <a:t>Kapso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WhatsApp Business API + BSP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Cloud + DB + storage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LLM + embeddings + RAG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HubSpot API</a:t>
            </a:r>
            <a:endParaRPr lang="en-US" sz="880" dirty="0"/>
          </a:p>
          <a:p>
            <a:r>
              <a:rPr lang="en-US" sz="880" dirty="0">
                <a:solidFill>
                  <a:srgbClr val="475569"/>
                </a:solidFill>
              </a:rPr>
              <a:t>Logs, seguridad y monitoreo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777240" y="5394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2B63"/>
                </a:solidFill>
              </a:rPr>
              <a:t>Nota critica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331720" y="5349240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62B63"/>
                </a:solidFill>
              </a:rPr>
              <a:t>El recurso mas importante no es tecnologico: es la disponibilidad del equipo experto para transferir criterio, validar respuestas y corregir recomendaciones.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Servicios a contratar o habilitar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 minimo recomendado para MVP y capacidades deseables para fase 2.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MVP obligatorio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1783080"/>
            <a:ext cx="457200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Kapso como base funcional operativa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WhatsApp Business Platform/API + BSP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Proveedor IA/LLM + embeddings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Cloud hosting + base de datos + storage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HubSpot API y configuracion CRM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Autenticacion, logs, monitoreo y seguridad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Fase 2 / escalamiento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37960" y="1783080"/>
            <a:ext cx="4480560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050" dirty="0">
                <a:solidFill>
                  <a:srgbClr val="475569"/>
                </a:solidFill>
              </a:rPr>
              <a:t>SAP / ERP y backoffice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Servicio de pagos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OCR para recetas y comprobantes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BI avanzado / data warehouse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QA conversacional y evaluacion IA</a:t>
            </a:r>
            <a:endParaRPr lang="en-US" sz="1050" dirty="0"/>
          </a:p>
          <a:p>
            <a:r>
              <a:rPr lang="en-US" sz="1050" dirty="0">
                <a:solidFill>
                  <a:srgbClr val="475569"/>
                </a:solidFill>
              </a:rPr>
              <a:t>Backup avanzado y continuidad operacional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B63"/>
                </a:solidFill>
              </a:rPr>
              <a:t>Modelo de propiedad sugerido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166360"/>
            <a:ext cx="102412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62B63"/>
                </a:solidFill>
              </a:rPr>
              <a:t>Cirumed deberia mantener la propiedad de numero WhatsApp, HubSpot y datos comerciales. PHX/Phigital puede operar cloud, IA y componentes tecnicos durante MVP como servicio gestionado, con opcion de transferencia posterior.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Alcance, riesgos y condiciones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81381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progresiva, con control humano y gobierno de conocimiento para reducir riesgo operativo.</a:t>
            </a:r>
            <a:endParaRPr lang="en-US" sz="980" dirty="0"/>
          </a:p>
        </p:txBody>
      </p:sp>
      <p:pic>
        <p:nvPicPr>
          <p:cNvPr id="4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329184"/>
            <a:ext cx="205740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4ED8"/>
                </a:solidFill>
              </a:rPr>
              <a:t>Alcance MVP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68680" y="1737360"/>
            <a:ext cx="310896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940" dirty="0">
                <a:solidFill>
                  <a:srgbClr val="475569"/>
                </a:solidFill>
              </a:rPr>
              <a:t>KB viva inicial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Analisis semantico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Lead scoring y NBA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Inbox/plataforma operativa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HubSpot integrado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Piloto controlado y dashboard</a:t>
            </a:r>
            <a:endParaRPr lang="en-US" sz="940" dirty="0"/>
          </a:p>
        </p:txBody>
      </p:sp>
      <p:sp>
        <p:nvSpPr>
          <p:cNvPr id="7" name="Text 4"/>
          <p:cNvSpPr/>
          <p:nvPr/>
        </p:nvSpPr>
        <p:spPr>
          <a:xfrm>
            <a:off x="4434840" y="132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</a:rPr>
              <a:t>Principales riesgos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26280" y="1737360"/>
            <a:ext cx="310896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940" dirty="0">
                <a:solidFill>
                  <a:srgbClr val="475569"/>
                </a:solidFill>
              </a:rPr>
              <a:t>Datos incompletos o poco representativos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Aprendizaje sin gobernanza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Automatizacion excesiva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Duplicidad o ruido en HubSpot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Dependencia de WhatsApp API/BSP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Resistencia de usuarios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809244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A34A"/>
                </a:solidFill>
              </a:rPr>
              <a:t>Mitigaciones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183880" y="1737360"/>
            <a:ext cx="30175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940" dirty="0">
                <a:solidFill>
                  <a:srgbClr val="475569"/>
                </a:solidFill>
              </a:rPr>
              <a:t>Human-in-the-loop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Versionamiento de KB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Piloto acotado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Reglas de sincronizacion CRM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Logs y auditoria IA</a:t>
            </a:r>
            <a:endParaRPr lang="en-US" sz="940" dirty="0"/>
          </a:p>
          <a:p>
            <a:r>
              <a:rPr lang="en-US" sz="940" dirty="0">
                <a:solidFill>
                  <a:srgbClr val="475569"/>
                </a:solidFill>
              </a:rPr>
              <a:t>Capacitacion y feedback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77724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B63"/>
                </a:solidFill>
              </a:rPr>
              <a:t>Condiciones de exito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5303520"/>
            <a:ext cx="101498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62B63"/>
                </a:solidFill>
              </a:rPr>
              <a:t>Disponibilidad de usuarios expertos, acceso a datos, definicion de reglas comerciales, validacion de compliance, ownership de WhatsApp/HubSpot y aprobacion rapida de decisiones de alcance.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2B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57200"/>
            <a:ext cx="214884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417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Proximos pasos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22960" y="2240280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63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325880" y="227685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Validar alcance MVP y casos de uso prioritarios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22960" y="2898648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63"/>
                </a:solidFill>
              </a:rPr>
              <a:t>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25880" y="293522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Confirmar recursos, responsables y servicios a contratar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557016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63"/>
                </a:solidFill>
              </a:rPr>
              <a:t>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25880" y="359359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Relevar datos y preparar paquete de conocimiento inicial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4215384"/>
            <a:ext cx="329184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B63"/>
                </a:solidFill>
              </a:rPr>
              <a:t>4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42519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Definir arquitectura final, plan de piloto y criterios de exito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5577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D6FF"/>
                </a:solidFill>
              </a:rPr>
              <a:t>Frase de cierre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06040" y="5440680"/>
            <a:ext cx="8412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 WhatsApp a HubSpot, con inteligencia en el medio: una plataforma que recomienda la proxima mejor accion y prepara cada oportunidad para vender mas rapido y con mayor trazabilidad.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PHX / Phigital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tecnico-comercial Cirumed - Inteligencia Comercial Conversacional</dc:title>
  <dc:subject>Propuesta tecnico-comercial Cirumed</dc:subject>
  <dc:creator>PHX / Phigital</dc:creator>
  <cp:lastModifiedBy>PHX / Phigital</cp:lastModifiedBy>
  <cp:revision>1</cp:revision>
  <dcterms:created xsi:type="dcterms:W3CDTF">2026-05-13T22:28:57Z</dcterms:created>
  <dcterms:modified xsi:type="dcterms:W3CDTF">2026-05-13T22:28:57Z</dcterms:modified>
</cp:coreProperties>
</file>